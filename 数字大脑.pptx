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59" r:id="rId3"/>
    <p:sldMasterId id="2147483664" r:id="rId4"/>
    <p:sldMasterId id="2147483673" r:id="rId5"/>
    <p:sldMasterId id="2147483683" r:id="rId6"/>
    <p:sldMasterId id="2147483697" r:id="rId7"/>
    <p:sldMasterId id="2147483710" r:id="rId8"/>
    <p:sldMasterId id="2147483724" r:id="rId9"/>
    <p:sldMasterId id="2147483734" r:id="rId10"/>
    <p:sldMasterId id="2147483735" r:id="rId11"/>
    <p:sldMasterId id="2147483746" r:id="rId12"/>
  </p:sldMasterIdLst>
  <p:notesMasterIdLst>
    <p:notesMasterId r:id="rId14"/>
  </p:notesMasterIdLst>
  <p:handoutMasterIdLst>
    <p:handoutMasterId r:id="rId29"/>
  </p:handoutMasterIdLst>
  <p:sldIdLst>
    <p:sldId id="14803" r:id="rId13"/>
    <p:sldId id="14831" r:id="rId15"/>
    <p:sldId id="14823" r:id="rId16"/>
    <p:sldId id="14911" r:id="rId17"/>
    <p:sldId id="14915" r:id="rId18"/>
    <p:sldId id="14916" r:id="rId19"/>
    <p:sldId id="14917" r:id="rId20"/>
    <p:sldId id="14918" r:id="rId21"/>
    <p:sldId id="14919" r:id="rId22"/>
    <p:sldId id="14925" r:id="rId23"/>
    <p:sldId id="14920" r:id="rId24"/>
    <p:sldId id="14921" r:id="rId25"/>
    <p:sldId id="14922" r:id="rId26"/>
    <p:sldId id="14923" r:id="rId27"/>
    <p:sldId id="13476" r:id="rId28"/>
  </p:sldIdLst>
  <p:sldSz cx="12192000" cy="6858000"/>
  <p:notesSz cx="6760845" cy="9942195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0FF5780-7156-4045-A9C3-E963E16869BF}">
          <p14:sldIdLst>
            <p14:sldId id="14803"/>
            <p14:sldId id="14831"/>
            <p14:sldId id="14823"/>
            <p14:sldId id="14911"/>
            <p14:sldId id="14915"/>
            <p14:sldId id="14916"/>
            <p14:sldId id="14917"/>
            <p14:sldId id="14918"/>
            <p14:sldId id="14919"/>
            <p14:sldId id="14925"/>
            <p14:sldId id="14920"/>
            <p14:sldId id="14921"/>
            <p14:sldId id="14922"/>
            <p14:sldId id="14923"/>
            <p14:sldId id="13476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健君" initials="G" lastIdx="2" clrIdx="0"/>
  <p:cmAuthor id="1" name="盛新鹏" initials="盛新鹏" lastIdx="1" clrIdx="1"/>
  <p:cmAuthor id="2" name="Redarmy270" initials="R" lastIdx="4" clrIdx="1"/>
  <p:cmAuthor id="3" name="王艳梅" initials="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C00000"/>
    <a:srgbClr val="A5AD79"/>
    <a:srgbClr val="41907D"/>
    <a:srgbClr val="3E757B"/>
    <a:srgbClr val="51819E"/>
    <a:srgbClr val="E09D4A"/>
    <a:srgbClr val="E60027"/>
    <a:srgbClr val="FF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2" autoAdjust="0"/>
    <p:restoredTop sz="95714" autoAdjust="0"/>
  </p:normalViewPr>
  <p:slideViewPr>
    <p:cSldViewPr snapToGrid="0">
      <p:cViewPr varScale="1">
        <p:scale>
          <a:sx n="109" d="100"/>
          <a:sy n="109" d="100"/>
        </p:scale>
        <p:origin x="3048" y="184"/>
      </p:cViewPr>
      <p:guideLst>
        <p:guide orient="horz" pos="4031"/>
        <p:guide pos="7390"/>
        <p:guide orient="horz" pos="968"/>
        <p:guide pos="3840"/>
        <p:guide pos="279"/>
        <p:guide pos="1249"/>
        <p:guide orient="horz" pos="21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gs" Target="tags/tag4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29837" cy="497125"/>
          </a:xfrm>
          <a:prstGeom prst="rect">
            <a:avLst/>
          </a:prstGeom>
        </p:spPr>
        <p:txBody>
          <a:bodyPr vert="horz" lIns="91611" tIns="45806" rIns="91611" bIns="45806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3" y="2"/>
            <a:ext cx="2929837" cy="497125"/>
          </a:xfrm>
          <a:prstGeom prst="rect">
            <a:avLst/>
          </a:prstGeom>
        </p:spPr>
        <p:txBody>
          <a:bodyPr vert="horz" lIns="91611" tIns="45806" rIns="91611" bIns="45806" rtlCol="0"/>
          <a:lstStyle>
            <a:lvl1pPr algn="r">
              <a:defRPr sz="1200"/>
            </a:lvl1pPr>
          </a:lstStyle>
          <a:p>
            <a:fld id="{4C91FBBE-CAA8-4C9A-A628-12F9C0C63A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43663"/>
            <a:ext cx="2929837" cy="497125"/>
          </a:xfrm>
          <a:prstGeom prst="rect">
            <a:avLst/>
          </a:prstGeom>
        </p:spPr>
        <p:txBody>
          <a:bodyPr vert="horz" lIns="91611" tIns="45806" rIns="91611" bIns="45806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3" y="9443663"/>
            <a:ext cx="2929837" cy="497125"/>
          </a:xfrm>
          <a:prstGeom prst="rect">
            <a:avLst/>
          </a:prstGeom>
        </p:spPr>
        <p:txBody>
          <a:bodyPr vert="horz" lIns="91611" tIns="45806" rIns="91611" bIns="45806" rtlCol="0" anchor="b"/>
          <a:lstStyle>
            <a:lvl1pPr algn="r">
              <a:defRPr sz="1200"/>
            </a:lvl1pPr>
          </a:lstStyle>
          <a:p>
            <a:fld id="{5FA3C955-A436-4543-8B23-37A2B22F50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29837" cy="498852"/>
          </a:xfrm>
          <a:prstGeom prst="rect">
            <a:avLst/>
          </a:prstGeom>
        </p:spPr>
        <p:txBody>
          <a:bodyPr vert="horz" lIns="91611" tIns="45806" rIns="91611" bIns="45806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3" y="1"/>
            <a:ext cx="2929837" cy="498852"/>
          </a:xfrm>
          <a:prstGeom prst="rect">
            <a:avLst/>
          </a:prstGeom>
        </p:spPr>
        <p:txBody>
          <a:bodyPr vert="horz" lIns="91611" tIns="45806" rIns="91611" bIns="45806" rtlCol="0"/>
          <a:lstStyle>
            <a:lvl1pPr algn="r">
              <a:defRPr sz="1200"/>
            </a:lvl1pPr>
          </a:lstStyle>
          <a:p>
            <a:fld id="{35CB1166-3B75-47CA-8962-E0AD962D89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0050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11" tIns="45806" rIns="91611" bIns="4580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5"/>
          </a:xfrm>
          <a:prstGeom prst="rect">
            <a:avLst/>
          </a:prstGeom>
        </p:spPr>
        <p:txBody>
          <a:bodyPr vert="horz" lIns="91611" tIns="45806" rIns="91611" bIns="45806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43662"/>
            <a:ext cx="2929837" cy="498851"/>
          </a:xfrm>
          <a:prstGeom prst="rect">
            <a:avLst/>
          </a:prstGeom>
        </p:spPr>
        <p:txBody>
          <a:bodyPr vert="horz" lIns="91611" tIns="45806" rIns="91611" bIns="45806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3" y="9443662"/>
            <a:ext cx="2929837" cy="498851"/>
          </a:xfrm>
          <a:prstGeom prst="rect">
            <a:avLst/>
          </a:prstGeom>
        </p:spPr>
        <p:txBody>
          <a:bodyPr vert="horz" lIns="91611" tIns="45806" rIns="91611" bIns="45806" rtlCol="0" anchor="b"/>
          <a:lstStyle>
            <a:lvl1pPr algn="r">
              <a:defRPr sz="1200"/>
            </a:lvl1pPr>
          </a:lstStyle>
          <a:p>
            <a:fld id="{A3872B30-09B4-415B-88B4-F78E56E36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8867DBFD-6CF6-46F0-803B-6C738462EB0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0115">
              <a:defRPr/>
            </a:pPr>
            <a:fld id="{A3872B30-09B4-415B-88B4-F78E56E367BF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29.jpeg"/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 dirty="0">
              <a:solidFill>
                <a:prstClr val="black"/>
              </a:solidFill>
              <a:latin typeface="Calibri" panose="020F0502020204030204"/>
              <a:ea typeface="宋体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2" y="5632593"/>
            <a:ext cx="4935256" cy="731757"/>
          </a:xfr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428" y="129578"/>
            <a:ext cx="1798315" cy="131443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0" y="1573593"/>
            <a:ext cx="12204000" cy="38344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1792990"/>
            <a:ext cx="10626245" cy="2446332"/>
          </a:xfr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3077" y="3707619"/>
            <a:ext cx="8179496" cy="729377"/>
          </a:xfr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400" b="1" kern="1200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6098" y="253075"/>
            <a:ext cx="11149964" cy="631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98" y="253075"/>
            <a:ext cx="9194372" cy="631262"/>
          </a:xfrm>
        </p:spPr>
        <p:txBody>
          <a:bodyPr anchor="ctr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757991" y="6420678"/>
            <a:ext cx="412977" cy="417002"/>
          </a:xfrm>
        </p:spPr>
        <p:txBody>
          <a:bodyPr anchor="ctr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FCA5CC9-9C0F-424D-A6A2-0137DDC45420}" type="slidenum">
              <a:rPr lang="zh-CN" altLang="en-US" smtClean="0"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098" y="253075"/>
            <a:ext cx="11149964" cy="631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606056" y="972000"/>
            <a:ext cx="10962167" cy="432000"/>
          </a:xfrm>
          <a:ln>
            <a:noFill/>
          </a:ln>
        </p:spPr>
        <p:txBody>
          <a:bodyPr anchor="t">
            <a:noAutofit/>
          </a:bodyPr>
          <a:lstStyle>
            <a:lvl1pPr marL="285750" indent="-285750" algn="l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15939" y="972000"/>
            <a:ext cx="11160124" cy="432000"/>
          </a:xfr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6098" y="253075"/>
            <a:ext cx="11149964" cy="631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515937" y="1508720"/>
            <a:ext cx="11160125" cy="4902830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0"/>
            <a:ext cx="11232000" cy="5331600"/>
          </a:xfr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1550" indent="-285750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526098" y="253075"/>
            <a:ext cx="11149964" cy="631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6555"/>
            <a:ext cx="10363200" cy="2264895"/>
          </a:xfr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lang="zh-CN" altLang="en-US" sz="6000" b="1" i="0" u="none" strike="noStrike" kern="1200" cap="none" spc="600" normalizeH="0" baseline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484" y="315762"/>
            <a:ext cx="1411397" cy="9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1" y="5286376"/>
            <a:ext cx="1809749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 userDrawn="1"/>
        </p:nvCxnSpPr>
        <p:spPr bwMode="auto">
          <a:xfrm>
            <a:off x="0" y="955675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1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319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715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156" y="71262"/>
            <a:ext cx="1896308" cy="1386063"/>
          </a:xfrm>
          <a:prstGeom prst="rect">
            <a:avLst/>
          </a:prstGeom>
        </p:spPr>
      </p:pic>
      <p:pic>
        <p:nvPicPr>
          <p:cNvPr id="10" name="图片 5" descr="封面-04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2" y="134300"/>
            <a:ext cx="12192000" cy="6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6" name="Picture 2"/>
            <p:cNvPicPr>
              <a:picLocks noChangeAspect="1"/>
            </p:cNvPicPr>
            <p:nvPr userDrawn="1"/>
          </p:nvPicPr>
          <p:blipFill rotWithShape="1">
            <a:blip r:embed="rId2" cstate="print"/>
            <a:srcRect l="3952" t="11446" b="11445"/>
            <a:stretch>
              <a:fillRect/>
            </a:stretch>
          </p:blipFill>
          <p:spPr>
            <a:xfrm>
              <a:off x="0" y="-24673"/>
              <a:ext cx="9173817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冬奥联合版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6298" y="0"/>
            <a:ext cx="12204595" cy="6858000"/>
          </a:xfrm>
          <a:prstGeom prst="rect">
            <a:avLst/>
          </a:prstGeom>
        </p:spPr>
      </p:pic>
      <p:pic>
        <p:nvPicPr>
          <p:cNvPr id="6" name="图片 5" descr="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80600" y="278765"/>
            <a:ext cx="1602105" cy="8966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开始页">
    <p:bg>
      <p:bgPr>
        <a:solidFill>
          <a:srgbClr val="E60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7250" y="1711960"/>
            <a:ext cx="4606925" cy="3477895"/>
          </a:xfrm>
          <a:prstGeom prst="rect">
            <a:avLst/>
          </a:prstGeom>
        </p:spPr>
      </p:pic>
      <p:sp>
        <p:nvSpPr>
          <p:cNvPr id="8" name="Rectangle 7"/>
          <p:cNvSpPr>
            <a:spLocks noGrp="1" noChangeArrowheads="1"/>
          </p:cNvSpPr>
          <p:nvPr>
            <p:ph type="ctrTitle"/>
          </p:nvPr>
        </p:nvSpPr>
        <p:spPr>
          <a:xfrm>
            <a:off x="5583769" y="1821917"/>
            <a:ext cx="6175475" cy="1470027"/>
          </a:xfrm>
          <a:prstGeom prst="rect">
            <a:avLst/>
          </a:prstGeom>
        </p:spPr>
        <p:txBody>
          <a:bodyPr lIns="68579" tIns="34289" rIns="68579" bIns="34289" anchor="ctr"/>
          <a:lstStyle>
            <a:lvl1pPr algn="ctr" eaLnBrk="1" hangingPunct="1">
              <a:defRPr sz="4265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464021" y="4499339"/>
            <a:ext cx="4414971" cy="665211"/>
          </a:xfrm>
          <a:prstGeom prst="rect">
            <a:avLst/>
          </a:prstGeom>
        </p:spPr>
        <p:txBody>
          <a:bodyPr lIns="36000" tIns="34289" rIns="36000" bIns="34289" anchor="t" anchorCtr="0"/>
          <a:lstStyle>
            <a:lvl1pPr marL="0" indent="0" algn="ctr" eaLnBrk="1" hangingPunct="1">
              <a:lnSpc>
                <a:spcPct val="125000"/>
              </a:lnSpc>
              <a:buClr>
                <a:schemeClr val="hlink"/>
              </a:buClr>
              <a:buSzTx/>
              <a:buFontTx/>
              <a:buNone/>
              <a:defRPr sz="2135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39172" y="6562731"/>
            <a:ext cx="550520" cy="285684"/>
          </a:xfrm>
          <a:prstGeom prst="rect">
            <a:avLst/>
          </a:prstGeom>
        </p:spPr>
        <p:txBody>
          <a:bodyPr/>
          <a:lstStyle>
            <a:lvl1pPr algn="r">
              <a:defRPr sz="1335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0310">
              <a:defRPr/>
            </a:pPr>
            <a:fld id="{5F216A32-0CD1-404C-BF95-55107F96BE2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1" name="图片 10" descr="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80599" y="278765"/>
            <a:ext cx="2058426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6" name="Picture 2"/>
            <p:cNvPicPr>
              <a:picLocks noChangeAspect="1"/>
            </p:cNvPicPr>
            <p:nvPr userDrawn="1"/>
          </p:nvPicPr>
          <p:blipFill rotWithShape="1">
            <a:blip r:embed="rId2" cstate="print"/>
            <a:srcRect l="3952" t="11446" b="11445"/>
            <a:stretch>
              <a:fillRect/>
            </a:stretch>
          </p:blipFill>
          <p:spPr>
            <a:xfrm>
              <a:off x="0" y="-24673"/>
              <a:ext cx="9173817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0706" y="6535554"/>
            <a:ext cx="440261" cy="302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cap="none" spc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FCA5CC9-9C0F-424D-A6A2-0137DDC45420}" type="slidenum">
              <a:rPr lang="zh-CN" altLang="en-US" smtClean="0"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33948" y="25178"/>
            <a:ext cx="1496759" cy="937014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715" y="124460"/>
            <a:ext cx="12185650" cy="875030"/>
            <a:chOff x="9" y="196"/>
            <a:chExt cx="19190" cy="1378"/>
          </a:xfrm>
        </p:grpSpPr>
        <p:pic>
          <p:nvPicPr>
            <p:cNvPr id="18" name="图片 17" descr="7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9" y="196"/>
              <a:ext cx="14381" cy="1378"/>
            </a:xfrm>
            <a:prstGeom prst="rect">
              <a:avLst/>
            </a:prstGeom>
          </p:spPr>
        </p:pic>
        <p:pic>
          <p:nvPicPr>
            <p:cNvPr id="19" name="图片 18" descr="7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4819" y="196"/>
              <a:ext cx="14381" cy="137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293" y="246344"/>
            <a:ext cx="9311362" cy="631262"/>
          </a:xfrm>
        </p:spPr>
        <p:txBody>
          <a:bodyPr anchor="ctr">
            <a:noAutofit/>
          </a:bodyPr>
          <a:lstStyle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1" y="5286376"/>
            <a:ext cx="1809749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>
            <a:off x="0" y="955675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319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3" t="10342" r="12415" b="6898"/>
          <a:stretch>
            <a:fillRect/>
          </a:stretch>
        </p:blipFill>
        <p:spPr bwMode="auto">
          <a:xfrm>
            <a:off x="9961033" y="52388"/>
            <a:ext cx="1839384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Calibri" panose="020F0502020204030204" pitchFamily="34" charset="0"/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Calibri" panose="020F0502020204030204" pitchFamily="34" charset="0"/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0A74A924-9596-4D53-8675-FBB30D8A36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色条 拷贝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1557340"/>
            <a:ext cx="12192000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564905"/>
            <a:ext cx="10363200" cy="1470027"/>
          </a:xfrm>
          <a:prstGeom prst="rect">
            <a:avLst/>
          </a:prstGeom>
        </p:spPr>
        <p:txBody>
          <a:bodyPr lIns="68579" tIns="34289" rIns="68579" bIns="34289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br>
              <a:rPr lang="en-US" altLang="zh-CN" dirty="0"/>
            </a:br>
            <a:r>
              <a:rPr lang="zh-CN" altLang="en-US" dirty="0"/>
              <a:t>微软雅黑</a:t>
            </a:r>
            <a:r>
              <a:rPr lang="en-US" altLang="zh-CN" dirty="0"/>
              <a:t>30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28813" y="5716117"/>
            <a:ext cx="8534401" cy="665211"/>
          </a:xfrm>
          <a:prstGeom prst="rect">
            <a:avLst/>
          </a:prstGeom>
        </p:spPr>
        <p:txBody>
          <a:bodyPr lIns="68579" tIns="34289" rIns="68579" bIns="34289" anchor="ctr"/>
          <a:lstStyle>
            <a:lvl1pPr marL="0" marR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 sz="1865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0" marR="0" lvl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lang="zh-CN" altLang="en-US" dirty="0"/>
              <a:t>单击此处编辑副标题（微软雅黑</a:t>
            </a:r>
            <a:r>
              <a:rPr lang="en-US" altLang="zh-CN" dirty="0"/>
              <a:t>14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67222" y="145235"/>
            <a:ext cx="2054655" cy="126763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514016" y="6356351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9" tIns="45719" rIns="91439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9pPr>
          </a:lstStyle>
          <a:p>
            <a:pPr algn="r" defTabSz="609600">
              <a:defRPr/>
            </a:pPr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fld id="{A57B1887-7F4B-4647-9F3B-8A4764FF7254}" type="slidenum">
              <a:rPr lang="en-US" altLang="zh-CN" sz="1465" b="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endParaRPr lang="en-US" altLang="zh-CN" sz="1465" b="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5" y="319261"/>
            <a:ext cx="12191999" cy="648072"/>
          </a:xfrm>
          <a:prstGeom prst="rect">
            <a:avLst/>
          </a:prstGeom>
        </p:spPr>
        <p:txBody>
          <a:bodyPr lIns="180000" tIns="34289" rIns="180000" bIns="34289" anchor="ctr"/>
          <a:lstStyle>
            <a:lvl1pPr>
              <a:defRPr sz="2665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514016" y="6356351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9" tIns="45719" rIns="91439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9pPr>
          </a:lstStyle>
          <a:p>
            <a:pPr algn="r" defTabSz="609600">
              <a:defRPr/>
            </a:pPr>
            <a:r>
              <a:rPr lang="en-US" altLang="zh-CN" sz="1465" b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fld id="{A57B1887-7F4B-4647-9F3B-8A4764FF7254}" type="slidenum">
              <a:rPr lang="en-US" altLang="zh-CN" sz="1465" b="0" smtClean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465" b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endParaRPr lang="en-US" altLang="zh-CN" sz="1465" b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 hasCustomPrompt="1"/>
          </p:nvPr>
        </p:nvSpPr>
        <p:spPr>
          <a:xfrm>
            <a:off x="2" y="260775"/>
            <a:ext cx="12192847" cy="647700"/>
          </a:xfrm>
          <a:prstGeom prst="rect">
            <a:avLst/>
          </a:prstGeom>
        </p:spPr>
        <p:txBody>
          <a:bodyPr lIns="179705" tIns="34289" rIns="179705" bIns="34289"/>
          <a:lstStyle>
            <a:lvl1pPr>
              <a:defRPr kumimoji="0" lang="zh-CN" altLang="en-US" sz="2665" b="1" i="0" u="none" strike="noStrike" kern="0" cap="none" spc="0" normalizeH="0" baseline="0" noProof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defRPr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514015" y="6356351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9" tIns="45719" rIns="91439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9pPr>
          </a:lstStyle>
          <a:p>
            <a:pPr algn="r">
              <a:defRPr/>
            </a:pPr>
            <a:r>
              <a:rPr lang="en-US" altLang="zh-CN" sz="1465" b="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fld id="{A57B1887-7F4B-4647-9F3B-8A4764FF7254}" type="slidenum">
              <a:rPr lang="en-US" altLang="zh-CN" sz="1465" b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465" b="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endParaRPr lang="en-US" altLang="zh-CN" sz="1465" b="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3" y="319261"/>
            <a:ext cx="12191999" cy="648072"/>
          </a:xfrm>
          <a:prstGeom prst="rect">
            <a:avLst/>
          </a:prstGeom>
        </p:spPr>
        <p:txBody>
          <a:bodyPr lIns="180000" tIns="34289" rIns="180000" bIns="34289" anchor="ctr"/>
          <a:lstStyle>
            <a:lvl1pPr>
              <a:defRPr sz="2665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色条 拷贝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1557340"/>
            <a:ext cx="12192000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564905"/>
            <a:ext cx="10363200" cy="1470027"/>
          </a:xfrm>
          <a:prstGeom prst="rect">
            <a:avLst/>
          </a:prstGeom>
          <a:ln>
            <a:noFill/>
          </a:ln>
        </p:spPr>
        <p:txBody>
          <a:bodyPr lIns="68579" tIns="34289" rIns="68579" bIns="34289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67222" y="145235"/>
            <a:ext cx="2054655" cy="126763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2066" y="3125801"/>
            <a:ext cx="6087871" cy="574675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00452" y="2368144"/>
            <a:ext cx="8160384" cy="393890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solidFill>
                  <a:srgbClr val="006FC0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776333" y="6515813"/>
            <a:ext cx="570865" cy="260984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405130"/>
            <a:fld id="{81D60167-4931-47E6-BA6A-407CBD079E47}" type="slidenum">
              <a:rPr lang="en-US" altLang="zh-CN" spc="-5" smtClean="0"/>
            </a:fld>
            <a:endParaRPr lang="en-US" altLang="zh-CN" spc="-5" dirty="0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/>
          <p:nvPr userDrawn="1"/>
        </p:nvSpPr>
        <p:spPr>
          <a:xfrm>
            <a:off x="11539807" y="6480723"/>
            <a:ext cx="652195" cy="4046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</a:fld>
            <a:r>
              <a:rPr kumimoji="0" lang="en-US" altLang="zh-CN" sz="160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  <a:t>-</a:t>
            </a: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4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6250" y="5258795"/>
            <a:ext cx="8179496" cy="729377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0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0" y="5988172"/>
            <a:ext cx="4935256" cy="731757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22" y="220913"/>
            <a:ext cx="9513487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814388" y="872459"/>
            <a:ext cx="946032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508720"/>
            <a:ext cx="11542292" cy="4902830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0"/>
            <a:ext cx="11232000" cy="533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1550" indent="-285750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6555"/>
            <a:ext cx="10363200" cy="22648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lang="zh-CN" altLang="en-US" sz="6000" b="1" i="0" u="none" strike="noStrike" kern="1200" cap="none" spc="600" normalizeH="0" baseline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853" y="1264024"/>
            <a:ext cx="11542292" cy="5147528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29252" y="326065"/>
            <a:ext cx="9843779" cy="51117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11016600" y="6391886"/>
            <a:ext cx="1155736" cy="446450"/>
          </a:xfrm>
        </p:spPr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29253" y="882292"/>
            <a:ext cx="98437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55" descr="色条 拷贝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118" y="188914"/>
            <a:ext cx="10322983" cy="9683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22818" y="1562101"/>
            <a:ext cx="5259916" cy="4397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5934" y="1562101"/>
            <a:ext cx="5262033" cy="4397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118" y="188914"/>
            <a:ext cx="10322983" cy="9683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22818" y="1562101"/>
            <a:ext cx="5259916" cy="4397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985934" y="1562100"/>
            <a:ext cx="5262033" cy="21224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985934" y="3836989"/>
            <a:ext cx="5262033" cy="21224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438" y="165100"/>
            <a:ext cx="7850553" cy="5222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084" y="1298575"/>
            <a:ext cx="11725030" cy="1403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339" y="170974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339" y="458947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438" y="165100"/>
            <a:ext cx="7850553" cy="5222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6080" y="1298575"/>
            <a:ext cx="5767753" cy="1403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21401" y="1298575"/>
            <a:ext cx="5769707" cy="1403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9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158" y="1681163"/>
            <a:ext cx="515815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158" y="2505075"/>
            <a:ext cx="515815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8" y="1681163"/>
            <a:ext cx="518355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8" y="2505075"/>
            <a:ext cx="518355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438" y="165100"/>
            <a:ext cx="7850553" cy="5222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5" y="457200"/>
            <a:ext cx="39311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557" y="987433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55" y="2057400"/>
            <a:ext cx="393113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5" y="457200"/>
            <a:ext cx="39311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57" y="98743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55" y="2057400"/>
            <a:ext cx="393113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438" y="165100"/>
            <a:ext cx="7850553" cy="5222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6084" y="1298575"/>
            <a:ext cx="11725030" cy="14033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60345" y="165109"/>
            <a:ext cx="2930769" cy="25368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6085" y="165109"/>
            <a:ext cx="8606692" cy="25368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09600" y="1600206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6251" y="5239544"/>
            <a:ext cx="8179496" cy="729377"/>
          </a:xfr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4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1" y="5968921"/>
            <a:ext cx="4935256" cy="731757"/>
          </a:xfr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428" y="129578"/>
            <a:ext cx="1798315" cy="1314437"/>
          </a:xfrm>
          <a:prstGeom prst="rect">
            <a:avLst/>
          </a:prstGeom>
        </p:spPr>
      </p:pic>
      <p:pic>
        <p:nvPicPr>
          <p:cNvPr id="10" name="图片 5" descr="封面-04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" y="134300"/>
            <a:ext cx="12192000" cy="6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508720"/>
            <a:ext cx="11542292" cy="4902830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0"/>
            <a:ext cx="11232000" cy="5331600"/>
          </a:xfr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1550" indent="-285750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>
          <a:xfrm>
            <a:off x="10987104" y="6401718"/>
            <a:ext cx="1155736" cy="446450"/>
          </a:xfrm>
        </p:spPr>
        <p:txBody>
          <a:bodyPr/>
          <a:lstStyle>
            <a:lvl1pPr algn="ctr"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1" y="5286376"/>
            <a:ext cx="1809749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 userDrawn="1"/>
        </p:nvCxnSpPr>
        <p:spPr bwMode="auto">
          <a:xfrm>
            <a:off x="0" y="955675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1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319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715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156" y="71262"/>
            <a:ext cx="1896308" cy="1386063"/>
          </a:xfrm>
          <a:prstGeom prst="rect">
            <a:avLst/>
          </a:prstGeom>
        </p:spPr>
      </p:pic>
      <p:pic>
        <p:nvPicPr>
          <p:cNvPr id="10" name="图片 5" descr="封面-04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2" y="134300"/>
            <a:ext cx="12192000" cy="6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13"/>
          <p:cNvSpPr>
            <a:spLocks noGrp="1"/>
          </p:cNvSpPr>
          <p:nvPr>
            <p:ph type="sldNum" sz="quarter" idx="10"/>
          </p:nvPr>
        </p:nvSpPr>
        <p:spPr>
          <a:xfrm>
            <a:off x="10987104" y="6401718"/>
            <a:ext cx="1155736" cy="446450"/>
          </a:xfrm>
        </p:spPr>
        <p:txBody>
          <a:bodyPr/>
          <a:lstStyle>
            <a:lvl1pPr algn="ctr"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600" y="274639"/>
            <a:ext cx="8629673" cy="51117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灯片编号占位符 13"/>
          <p:cNvSpPr>
            <a:spLocks noGrp="1"/>
          </p:cNvSpPr>
          <p:nvPr>
            <p:ph type="sldNum" sz="quarter" idx="10"/>
          </p:nvPr>
        </p:nvSpPr>
        <p:spPr>
          <a:xfrm>
            <a:off x="10987104" y="6401718"/>
            <a:ext cx="1155736" cy="446450"/>
          </a:xfrm>
        </p:spPr>
        <p:txBody>
          <a:bodyPr/>
          <a:lstStyle>
            <a:lvl1pPr algn="ctr"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E70C2D-FF49-43B8-BDC7-9D89AAF17C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E18-AAD2-48E7-9EBA-725270E17C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514016" y="6356351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8" tIns="45718" rIns="91438" bIns="45718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9pPr>
          </a:lstStyle>
          <a:p>
            <a:pPr algn="r">
              <a:defRPr/>
            </a:pPr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fld id="{A57B1887-7F4B-4647-9F3B-8A4764FF7254}" type="slidenum">
              <a:rPr lang="en-US" altLang="zh-CN" sz="1465" b="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endParaRPr lang="en-US" altLang="zh-CN" sz="1465" b="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4" y="319261"/>
            <a:ext cx="12191999" cy="648072"/>
          </a:xfrm>
          <a:prstGeom prst="rect">
            <a:avLst/>
          </a:prstGeom>
        </p:spPr>
        <p:txBody>
          <a:bodyPr lIns="180000" tIns="34289" rIns="180000" bIns="34289" anchor="ctr"/>
          <a:lstStyle>
            <a:lvl1pPr>
              <a:defRPr sz="2665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372919" y="840611"/>
            <a:ext cx="1763283" cy="288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/>
          </a:p>
        </p:txBody>
      </p:sp>
      <p:cxnSp>
        <p:nvCxnSpPr>
          <p:cNvPr id="5" name="直接连接符 4"/>
          <p:cNvCxnSpPr/>
          <p:nvPr userDrawn="1"/>
        </p:nvCxnSpPr>
        <p:spPr bwMode="auto">
          <a:xfrm>
            <a:off x="0" y="987622"/>
            <a:ext cx="1219182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  <a:effectLst>
            <a:outerShdw blurRad="40005" dist="20320" dir="5400000" algn="t" rotWithShape="0">
              <a:prstClr val="black">
                <a:alpha val="38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灯片编号占位符 4"/>
          <p:cNvSpPr txBox="1"/>
          <p:nvPr userDrawn="1"/>
        </p:nvSpPr>
        <p:spPr>
          <a:xfrm>
            <a:off x="11589699" y="6374752"/>
            <a:ext cx="455289" cy="386414"/>
          </a:xfrm>
          <a:prstGeom prst="rect">
            <a:avLst/>
          </a:prstGeom>
        </p:spPr>
        <p:txBody>
          <a:bodyPr vert="horz" wrap="square" lIns="69107" tIns="34553" rIns="69107" bIns="34553" numCol="1" anchor="ctr" anchorCtr="0" compatLnSpc="1"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690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9423D4-94D9-40DD-A71C-765341AA717E}" type="slidenum">
              <a:rPr kumimoji="0" lang="zh-CN" altLang="en-US" sz="1355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</a:fld>
            <a:endParaRPr kumimoji="0" lang="zh-CN" altLang="en-US" sz="135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t="7349" r="79589" b="58729"/>
          <a:stretch>
            <a:fillRect/>
          </a:stretch>
        </p:blipFill>
        <p:spPr bwMode="auto">
          <a:xfrm>
            <a:off x="10382719" y="120433"/>
            <a:ext cx="1672069" cy="9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1332" y="408044"/>
            <a:ext cx="6278745" cy="475479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0160" y="-10795"/>
            <a:ext cx="12201525" cy="687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pic>
        <p:nvPicPr>
          <p:cNvPr id="3" name="图片 2" descr="请假单-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2951" y="546102"/>
            <a:ext cx="1717040" cy="4146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4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6250" y="5258795"/>
            <a:ext cx="8179496" cy="729377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0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0" y="5988172"/>
            <a:ext cx="4935256" cy="731757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22" y="220913"/>
            <a:ext cx="9513487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85180" y="872459"/>
            <a:ext cx="946032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508720"/>
            <a:ext cx="11542292" cy="4902830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0"/>
            <a:ext cx="11232000" cy="533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1550" indent="-285750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6555"/>
            <a:ext cx="10363200" cy="22648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lang="zh-CN" altLang="en-US" sz="6000" b="1" i="0" u="none" strike="noStrike" kern="1200" cap="none" spc="600" normalizeH="0" baseline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853" y="1264024"/>
            <a:ext cx="11542292" cy="5147528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29252" y="326065"/>
            <a:ext cx="9843779" cy="51117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11016600" y="6391886"/>
            <a:ext cx="1155736" cy="446450"/>
          </a:xfrm>
        </p:spPr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29253" y="882292"/>
            <a:ext cx="98437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55" descr="色条 拷贝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4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6250" y="5258795"/>
            <a:ext cx="8179496" cy="729377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0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0" y="5988172"/>
            <a:ext cx="4935256" cy="731757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22" y="220913"/>
            <a:ext cx="9513487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85180" y="872459"/>
            <a:ext cx="946032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2" y="972000"/>
            <a:ext cx="11231999" cy="432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3" y="1508720"/>
            <a:ext cx="11542292" cy="4902830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0"/>
            <a:ext cx="11232000" cy="533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1550" indent="-285750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814388" y="255403"/>
            <a:ext cx="9068423" cy="6312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6555"/>
            <a:ext cx="10363200" cy="22648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lang="zh-CN" altLang="en-US" sz="6000" b="1" i="0" u="none" strike="noStrike" kern="1200" cap="none" spc="600" normalizeH="0" baseline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853" y="1264024"/>
            <a:ext cx="11542292" cy="5147528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29252" y="326065"/>
            <a:ext cx="9843779" cy="51117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11016600" y="6391886"/>
            <a:ext cx="1155736" cy="446450"/>
          </a:xfrm>
        </p:spPr>
        <p:txBody>
          <a:bodyPr/>
          <a:lstStyle/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29253" y="882292"/>
            <a:ext cx="98437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55" descr="色条 拷贝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1"/>
            <a:ext cx="1219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82876" y="2175772"/>
            <a:ext cx="10626245" cy="24463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514016" y="6356351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9" tIns="45719" rIns="91439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itchFamily="2" charset="-122"/>
              </a:defRPr>
            </a:lvl9pPr>
          </a:lstStyle>
          <a:p>
            <a:pPr algn="r" defTabSz="609600">
              <a:defRPr/>
            </a:pPr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fld id="{A57B1887-7F4B-4647-9F3B-8A4764FF7254}" type="slidenum">
              <a:rPr lang="en-US" altLang="zh-CN" sz="1465" b="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465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endParaRPr lang="en-US" altLang="zh-CN" sz="1465" b="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5" y="319261"/>
            <a:ext cx="12191999" cy="648072"/>
          </a:xfrm>
          <a:prstGeom prst="rect">
            <a:avLst/>
          </a:prstGeom>
        </p:spPr>
        <p:txBody>
          <a:bodyPr lIns="180000" tIns="34289" rIns="180000" bIns="34289" anchor="ctr"/>
          <a:lstStyle>
            <a:lvl1pPr>
              <a:defRPr sz="32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876" y="2175773"/>
            <a:ext cx="10626245" cy="2446332"/>
          </a:xfr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US" sz="4800" b="1" kern="1200" spc="3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6251" y="5239545"/>
            <a:ext cx="8179496" cy="729377"/>
          </a:xfrm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lang="zh-CN" altLang="en-US" sz="2400" b="1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28371" y="5968922"/>
            <a:ext cx="4935256" cy="731757"/>
          </a:xfrm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429" y="129579"/>
            <a:ext cx="1798315" cy="1314437"/>
          </a:xfrm>
          <a:prstGeom prst="rect">
            <a:avLst/>
          </a:prstGeom>
        </p:spPr>
      </p:pic>
      <p:pic>
        <p:nvPicPr>
          <p:cNvPr id="10" name="图片 5" descr="封面-04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" y="134300"/>
            <a:ext cx="12192000" cy="6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4" y="1075765"/>
            <a:ext cx="11542292" cy="5335787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3" y="972000"/>
            <a:ext cx="11231999" cy="432000"/>
          </a:xfr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栏副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80003" y="972000"/>
            <a:ext cx="11231999" cy="432000"/>
          </a:xfrm>
          <a:ln>
            <a:noFill/>
          </a:ln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1" i="0" cap="none" spc="30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324854" y="1508720"/>
            <a:ext cx="11542292" cy="4902831"/>
          </a:xfrm>
          <a:prstGeom prst="rect">
            <a:avLst/>
          </a:prstGeom>
          <a:ln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79951"/>
            <a:ext cx="11232000" cy="5331600"/>
          </a:xfrm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571500" indent="-571500">
              <a:buClrTx/>
              <a:buFont typeface="+mj-ea"/>
              <a:buAutoNum type="ea1JpnChsDbPeriod"/>
              <a:defRPr lang="zh-CN" altLang="en-US" sz="2800" spc="300" dirty="0" smtClean="0">
                <a:solidFill>
                  <a:schemeClr val="bg1">
                    <a:lumMod val="50000"/>
                  </a:schemeClr>
                </a:solidFill>
              </a:defRPr>
            </a:lvl1pPr>
            <a:lvl2pPr marL="972185" indent="-286385">
              <a:buClr>
                <a:srgbClr val="C00000"/>
              </a:buClr>
              <a:buFont typeface="Wingdings" panose="05000000000000000000" pitchFamily="2" charset="2"/>
              <a:buChar char="p"/>
              <a:defRPr lang="zh-CN" altLang="en-US" sz="2400" spc="300" dirty="0" smtClean="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0">
              <a:buNone/>
              <a:defRPr lang="zh-CN" altLang="en-US" sz="1400" dirty="0" smtClean="0"/>
            </a:lvl3pPr>
            <a:lvl4pPr marL="1600200" indent="0">
              <a:buNone/>
              <a:defRPr lang="zh-CN" altLang="en-US" sz="1200" dirty="0" smtClean="0"/>
            </a:lvl4pPr>
            <a:lvl5pPr marL="2057400" indent="0">
              <a:buNone/>
              <a:defRPr lang="en-US" sz="1200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8" name="Picture 2055" descr="色条 拷贝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" y="1539082"/>
            <a:ext cx="121920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6556"/>
            <a:ext cx="10363200" cy="2264895"/>
          </a:xfrm>
        </p:spPr>
        <p:txBody>
          <a:bodyPr anchor="ctr">
            <a:noAutofit/>
          </a:bodyPr>
          <a:lstStyle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lang="zh-CN" altLang="en-US" sz="6000" b="1" i="0" u="none" strike="noStrike" kern="1200" cap="none" spc="600" normalizeH="0" baseline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484" y="315763"/>
            <a:ext cx="1411397" cy="9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2" y="5286377"/>
            <a:ext cx="1809749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 userDrawn="1"/>
        </p:nvCxnSpPr>
        <p:spPr bwMode="auto">
          <a:xfrm>
            <a:off x="0" y="955675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1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319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715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157" y="71263"/>
            <a:ext cx="1896308" cy="1386063"/>
          </a:xfrm>
          <a:prstGeom prst="rect">
            <a:avLst/>
          </a:prstGeom>
        </p:spPr>
      </p:pic>
      <p:pic>
        <p:nvPicPr>
          <p:cNvPr id="10" name="图片 5" descr="封面-04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3" y="134300"/>
            <a:ext cx="12192000" cy="6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3.jpeg"/><Relationship Id="rId11" Type="http://schemas.openxmlformats.org/officeDocument/2006/relationships/image" Target="../media/image1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1" Type="http://schemas.openxmlformats.org/officeDocument/2006/relationships/theme" Target="../theme/theme3.xml"/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4.xml"/><Relationship Id="rId12" Type="http://schemas.openxmlformats.org/officeDocument/2006/relationships/image" Target="../media/image21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5" Type="http://schemas.openxmlformats.org/officeDocument/2006/relationships/theme" Target="../theme/theme5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7" Type="http://schemas.openxmlformats.org/officeDocument/2006/relationships/theme" Target="../theme/theme7.xml"/><Relationship Id="rId16" Type="http://schemas.openxmlformats.org/officeDocument/2006/relationships/image" Target="../media/image12.pn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3" Type="http://schemas.openxmlformats.org/officeDocument/2006/relationships/theme" Target="../theme/theme8.xml"/><Relationship Id="rId12" Type="http://schemas.openxmlformats.org/officeDocument/2006/relationships/image" Target="../media/image21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70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4" Type="http://schemas.openxmlformats.org/officeDocument/2006/relationships/theme" Target="../theme/theme10.xml"/><Relationship Id="rId13" Type="http://schemas.openxmlformats.org/officeDocument/2006/relationships/image" Target="../media/image21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11.xml"/><Relationship Id="rId11" Type="http://schemas.openxmlformats.org/officeDocument/2006/relationships/image" Target="../media/image12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062" y="6391230"/>
            <a:ext cx="494906" cy="446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cap="none" spc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FCA5CC9-9C0F-424D-A6A2-0137DDC45420}" type="slidenum">
              <a:rPr lang="zh-CN" altLang="en-US" smtClean="0"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lang="zh-CN" altLang="en-US" dirty="0"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0233948" y="25178"/>
            <a:ext cx="1496759" cy="937014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5715" y="124460"/>
            <a:ext cx="12185650" cy="875030"/>
            <a:chOff x="9" y="196"/>
            <a:chExt cx="19190" cy="1378"/>
          </a:xfrm>
        </p:grpSpPr>
        <p:pic>
          <p:nvPicPr>
            <p:cNvPr id="13" name="图片 12" descr="7"/>
            <p:cNvPicPr>
              <a:picLocks noChangeAspect="1"/>
            </p:cNvPicPr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9" y="196"/>
              <a:ext cx="14381" cy="1378"/>
            </a:xfrm>
            <a:prstGeom prst="rect">
              <a:avLst/>
            </a:prstGeom>
          </p:spPr>
        </p:pic>
        <p:pic>
          <p:nvPicPr>
            <p:cNvPr id="14" name="图片 13" descr="7"/>
            <p:cNvPicPr>
              <a:picLocks noChangeAspect="1"/>
            </p:cNvPicPr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4819" y="196"/>
              <a:ext cx="14381" cy="1378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4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9802-C3F8-5541-BD5F-197197AB57B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11137436" y="5805264"/>
            <a:ext cx="1054565" cy="10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>
            <a:cxnSpLocks noChangeShapeType="1"/>
          </p:cNvCxnSpPr>
          <p:nvPr userDrawn="1"/>
        </p:nvCxnSpPr>
        <p:spPr bwMode="auto">
          <a:xfrm>
            <a:off x="0" y="981075"/>
            <a:ext cx="12192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0660907" y="18711"/>
            <a:ext cx="1512188" cy="9329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p:transition spd="med"/>
  <p:hf hdr="0" ftr="0" dt="0"/>
  <p:txStyles>
    <p:titleStyle>
      <a:lvl1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宋体" pitchFamily="2" charset="-122"/>
        </a:defRPr>
      </a:lvl1pPr>
      <a:lvl2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  <a:cs typeface="宋体" pitchFamily="2" charset="-122"/>
        </a:defRPr>
      </a:lvl2pPr>
      <a:lvl3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  <a:cs typeface="宋体" pitchFamily="2" charset="-122"/>
        </a:defRPr>
      </a:lvl3pPr>
      <a:lvl4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  <a:cs typeface="宋体" pitchFamily="2" charset="-122"/>
        </a:defRPr>
      </a:lvl4pPr>
      <a:lvl5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  <a:cs typeface="宋体" pitchFamily="2" charset="-122"/>
        </a:defRPr>
      </a:lvl5pPr>
      <a:lvl6pPr marL="4572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</a:defRPr>
      </a:lvl6pPr>
      <a:lvl7pPr marL="9144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</a:defRPr>
      </a:lvl7pPr>
      <a:lvl8pPr marL="13716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</a:defRPr>
      </a:lvl8pPr>
      <a:lvl9pPr marL="18288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itchFamily="2" charset="-122"/>
        </a:defRPr>
      </a:lvl9pPr>
    </p:titleStyle>
    <p:bodyStyle>
      <a:lvl1pPr marL="342900" indent="-342900" algn="l" defTabSz="91249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宋体" pitchFamily="2" charset="-122"/>
        </a:defRPr>
      </a:lvl1pPr>
      <a:lvl2pPr marL="743585" indent="-286385" algn="l" defTabSz="912495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3000" indent="-230505" algn="l" defTabSz="91249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defTabSz="91249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defTabSz="91249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196" y="152731"/>
            <a:ext cx="9068423" cy="631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2851" y="5266711"/>
            <a:ext cx="135842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9716" y="6391886"/>
            <a:ext cx="436826" cy="446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16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22"/>
            <a:ext cx="938463" cy="92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8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1"/>
          <p:cNvSpPr/>
          <p:nvPr userDrawn="1"/>
        </p:nvSpPr>
        <p:spPr>
          <a:xfrm>
            <a:off x="0" y="6237288"/>
            <a:ext cx="12192000" cy="431800"/>
          </a:xfrm>
          <a:prstGeom prst="rect">
            <a:avLst/>
          </a:prstGeom>
          <a:solidFill>
            <a:srgbClr val="333333"/>
          </a:solidFill>
          <a:ln w="9525">
            <a:noFill/>
          </a:ln>
        </p:spPr>
        <p:txBody>
          <a:bodyPr wrap="none" anchor="ctr"/>
          <a:lstStyle/>
          <a:p>
            <a:pPr lvl="0" eaLnBrk="1" hangingPunct="1"/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2051" name="Rectangle 30"/>
          <p:cNvSpPr/>
          <p:nvPr userDrawn="1"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rgbClr val="FF9933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lang="zh-CN" altLang="en-US" sz="1800" dirty="0">
              <a:solidFill>
                <a:srgbClr val="FF9933"/>
              </a:solidFill>
              <a:latin typeface="Arial" panose="020B0604020202020204" pitchFamily="34" charset="0"/>
            </a:endParaRPr>
          </a:p>
        </p:txBody>
      </p:sp>
      <p:sp>
        <p:nvSpPr>
          <p:cNvPr id="2052" name="Text Box 32"/>
          <p:cNvSpPr txBox="1">
            <a:spLocks noChangeArrowheads="1"/>
          </p:cNvSpPr>
          <p:nvPr/>
        </p:nvSpPr>
        <p:spPr bwMode="auto">
          <a:xfrm>
            <a:off x="4864100" y="6237288"/>
            <a:ext cx="3365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WEB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应用安全和数据库安全的领航者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053" name="Text Box 33"/>
          <p:cNvSpPr txBox="1">
            <a:spLocks noChangeArrowheads="1"/>
          </p:cNvSpPr>
          <p:nvPr/>
        </p:nvSpPr>
        <p:spPr bwMode="auto">
          <a:xfrm>
            <a:off x="334434" y="6237288"/>
            <a:ext cx="26468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www.dbappsecurity.com.cn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pic>
        <p:nvPicPr>
          <p:cNvPr id="2054" name="Picture 25" descr="安恒logo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0174818" y="79375"/>
            <a:ext cx="2017183" cy="509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34"/>
          <p:cNvSpPr/>
          <p:nvPr userDrawn="1"/>
        </p:nvSpPr>
        <p:spPr>
          <a:xfrm>
            <a:off x="0" y="1008063"/>
            <a:ext cx="12192000" cy="144462"/>
          </a:xfrm>
          <a:prstGeom prst="rect">
            <a:avLst/>
          </a:prstGeom>
          <a:solidFill>
            <a:srgbClr val="FF9933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lang="zh-CN" altLang="en-US" sz="1800" dirty="0">
              <a:solidFill>
                <a:srgbClr val="FF9933"/>
              </a:solidFill>
              <a:latin typeface="Arial" panose="020B0604020202020204" pitchFamily="34" charset="0"/>
            </a:endParaRPr>
          </a:p>
        </p:txBody>
      </p:sp>
      <p:sp>
        <p:nvSpPr>
          <p:cNvPr id="2056" name="Rectangle 42"/>
          <p:cNvSpPr>
            <a:spLocks noGrp="1"/>
          </p:cNvSpPr>
          <p:nvPr>
            <p:ph type="title"/>
          </p:nvPr>
        </p:nvSpPr>
        <p:spPr>
          <a:xfrm>
            <a:off x="510118" y="188914"/>
            <a:ext cx="10322983" cy="968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7" name="Rectangle 43"/>
          <p:cNvSpPr>
            <a:spLocks noGrp="1"/>
          </p:cNvSpPr>
          <p:nvPr>
            <p:ph type="body" idx="1"/>
          </p:nvPr>
        </p:nvSpPr>
        <p:spPr>
          <a:xfrm>
            <a:off x="522818" y="1562101"/>
            <a:ext cx="10725149" cy="4397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092" name="Rectangle 4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3001" y="6237288"/>
            <a:ext cx="1824567" cy="3365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algn="ctr">
              <a:defRPr sz="1600">
                <a:solidFill>
                  <a:srgbClr val="FF9933"/>
                </a:solidFill>
                <a:latin typeface="宋体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宋体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©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à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1"/>
          <p:cNvGrpSpPr/>
          <p:nvPr userDrawn="1"/>
        </p:nvGrpSpPr>
        <p:grpSpPr bwMode="auto">
          <a:xfrm>
            <a:off x="12701" y="6538915"/>
            <a:ext cx="12177184" cy="319087"/>
            <a:chOff x="0" y="0"/>
            <a:chExt cx="6223" cy="201"/>
          </a:xfrm>
        </p:grpSpPr>
        <p:sp>
          <p:nvSpPr>
            <p:cNvPr id="2051" name="Rectangle 8"/>
            <p:cNvSpPr>
              <a:spLocks noChangeArrowheads="1"/>
            </p:cNvSpPr>
            <p:nvPr userDrawn="1"/>
          </p:nvSpPr>
          <p:spPr bwMode="auto">
            <a:xfrm>
              <a:off x="0" y="0"/>
              <a:ext cx="6223" cy="65"/>
            </a:xfrm>
            <a:prstGeom prst="rect">
              <a:avLst/>
            </a:prstGeom>
            <a:solidFill>
              <a:srgbClr val="808080"/>
            </a:solidFill>
            <a:ln w="9525" cmpd="sng">
              <a:solidFill>
                <a:srgbClr val="80808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700" b="1">
                <a:solidFill>
                  <a:srgbClr val="000000"/>
                </a:solidFill>
              </a:endParaRPr>
            </a:p>
          </p:txBody>
        </p:sp>
        <p:sp>
          <p:nvSpPr>
            <p:cNvPr id="2052" name="Rectangle 9"/>
            <p:cNvSpPr>
              <a:spLocks noChangeArrowheads="1"/>
            </p:cNvSpPr>
            <p:nvPr userDrawn="1"/>
          </p:nvSpPr>
          <p:spPr bwMode="auto">
            <a:xfrm>
              <a:off x="0" y="119"/>
              <a:ext cx="6223" cy="82"/>
            </a:xfrm>
            <a:prstGeom prst="rect">
              <a:avLst/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7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700" b="1">
                <a:solidFill>
                  <a:srgbClr val="000000"/>
                </a:solidFill>
              </a:endParaRPr>
            </a:p>
          </p:txBody>
        </p:sp>
      </p:grpSp>
      <p:sp>
        <p:nvSpPr>
          <p:cNvPr id="2055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3034" y="6245225"/>
            <a:ext cx="2624667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楷体_GB2312" panose="0201060903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000000"/>
              </a:solidFill>
              <a:ea typeface="方正兰亭中黑_GBK" pitchFamily="2" charset="-122"/>
            </a:endParaRPr>
          </a:p>
        </p:txBody>
      </p:sp>
      <p:sp>
        <p:nvSpPr>
          <p:cNvPr id="205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3084" y="6245225"/>
            <a:ext cx="3564466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latin typeface="楷体_GB2312" panose="0201060903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000000"/>
              </a:solidFill>
              <a:ea typeface="方正兰亭中黑_GBK" pitchFamily="2" charset="-122"/>
            </a:endParaRP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 flipV="1">
            <a:off x="0" y="746125"/>
            <a:ext cx="12189884" cy="190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400" b="1">
              <a:solidFill>
                <a:srgbClr val="000000"/>
              </a:solidFill>
              <a:latin typeface="Arial" panose="020B0604020202020204" pitchFamily="34" charset="0"/>
              <a:ea typeface="方正兰亭中黑_GBK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hdr="0" ftr="0" dt="0"/>
  <p:txStyles>
    <p:titleStyle>
      <a:lvl1pPr algn="l" defTabSz="957580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defTabSz="95758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defTabSz="957580" rtl="0" eaLnBrk="0" fontAlgn="base" hangingPunct="0">
        <a:spcBef>
          <a:spcPct val="0"/>
        </a:spcBef>
        <a:spcAft>
          <a:spcPct val="0"/>
        </a:spcAft>
        <a:buSzPct val="12000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" indent="-152400" algn="l" defTabSz="957580" rtl="0" eaLnBrk="0" fontAlgn="base" hangingPunct="0">
        <a:spcBef>
          <a:spcPct val="0"/>
        </a:spcBef>
        <a:spcAft>
          <a:spcPct val="0"/>
        </a:spcAft>
        <a:buSzPct val="12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16230" indent="-160655" algn="l" defTabSz="957580" rtl="0" eaLnBrk="0" fontAlgn="base" hangingPunct="0">
        <a:spcBef>
          <a:spcPct val="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462280" indent="-144780" algn="l" defTabSz="957580" rtl="0" eaLnBrk="0" fontAlgn="base" hangingPunct="0">
        <a:spcBef>
          <a:spcPct val="0"/>
        </a:spcBef>
        <a:spcAft>
          <a:spcPct val="0"/>
        </a:spcAft>
        <a:buSzPct val="8900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22300" indent="-158750" algn="l" defTabSz="957580" rtl="0" eaLnBrk="0" fontAlgn="base" hangingPunct="0">
        <a:spcBef>
          <a:spcPct val="0"/>
        </a:spcBef>
        <a:spcAft>
          <a:spcPct val="0"/>
        </a:spcAft>
        <a:buSzPct val="7500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33580" y="5286378"/>
            <a:ext cx="135842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092" y="6391886"/>
            <a:ext cx="1155736" cy="446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 flipV="1">
            <a:off x="0" y="944381"/>
            <a:ext cx="10144125" cy="11296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22"/>
            <a:ext cx="938463" cy="92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187890"/>
            <a:ext cx="9068423" cy="631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853" y="1075766"/>
            <a:ext cx="11542292" cy="5335786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1496951" y="944565"/>
            <a:ext cx="695050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233948" y="25178"/>
            <a:ext cx="1496759" cy="9370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0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196" y="152731"/>
            <a:ext cx="9068423" cy="631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2851" y="5266711"/>
            <a:ext cx="135842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9716" y="6391886"/>
            <a:ext cx="436826" cy="446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16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22"/>
            <a:ext cx="938463" cy="92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8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89F8B-1999-4F75-9422-284F61723E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42B48-6006-4C7F-A6DF-C420D8B9E4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196" y="152731"/>
            <a:ext cx="9068423" cy="631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2851" y="5266711"/>
            <a:ext cx="135842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9716" y="6391886"/>
            <a:ext cx="436826" cy="446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FCA5CC9-9C0F-424D-A6A2-0137DDC4542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16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22"/>
            <a:ext cx="938463" cy="92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81640" y="522"/>
            <a:ext cx="2219325" cy="1181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8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33581" y="5286380"/>
            <a:ext cx="135842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83153" y="6411549"/>
            <a:ext cx="1155736" cy="446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FCA5CC9-9C0F-424D-A6A2-0137DDC45420}" type="slidenum">
              <a:rPr kumimoji="1" lang="zh-CN" altLang="en-US" smtClean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</a:fld>
            <a:endParaRPr kumimoji="1" lang="zh-CN" altLang="en-US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 flipV="1">
            <a:off x="0" y="944381"/>
            <a:ext cx="10144125" cy="11296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23"/>
            <a:ext cx="938463" cy="92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187890"/>
            <a:ext cx="9068423" cy="631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854" y="1075765"/>
            <a:ext cx="11542292" cy="5335787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1496951" y="944565"/>
            <a:ext cx="695051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233949" y="25178"/>
            <a:ext cx="1496759" cy="9370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000" b="1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+mj-ea"/>
          <a:ea typeface="+mj-ea"/>
          <a:cs typeface="+mj-cs"/>
        </a:defRPr>
      </a:lvl1pPr>
    </p:titleStyle>
    <p:bodyStyle>
      <a:lvl1pPr marL="228600" indent="228600" algn="l" defTabSz="914400" rtl="0" eaLnBrk="1" latinLnBrk="0" hangingPunct="1">
        <a:lnSpc>
          <a:spcPct val="15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Ø"/>
        <a:defRPr sz="11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228600" algn="l" defTabSz="914400" rtl="0" eaLnBrk="1" latinLnBrk="0" hangingPunct="1">
        <a:lnSpc>
          <a:spcPct val="15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u"/>
        <a:defRPr sz="11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.sv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4839127" y="1774190"/>
            <a:ext cx="7233007" cy="21116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spc="1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数字大脑立项汇报</a:t>
            </a:r>
            <a:endParaRPr lang="zh-CN" altLang="en-US" sz="4000" spc="1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6340206" y="5083810"/>
            <a:ext cx="5046345" cy="929640"/>
          </a:xfrm>
        </p:spPr>
        <p:txBody>
          <a:bodyPr>
            <a:normAutofit/>
          </a:bodyPr>
          <a:lstStyle/>
          <a:p>
            <a:r>
              <a:rPr lang="en-US" altLang="zh-CN" b="0" dirty="0"/>
              <a:t>2022</a:t>
            </a:r>
            <a:r>
              <a:rPr lang="zh-CN" altLang="en-US" b="0" dirty="0"/>
              <a:t>年</a:t>
            </a:r>
            <a:r>
              <a:rPr lang="en-US" altLang="zh-CN" b="0" dirty="0"/>
              <a:t>6</a:t>
            </a:r>
            <a:r>
              <a:rPr lang="zh-CN" altLang="en-US" b="0" dirty="0"/>
              <a:t>月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217" y="1871968"/>
            <a:ext cx="6623539" cy="419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数字大脑（城市大脑）是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运用大数据、云计算、物联网、人工智能、区块链、数字孪生等技术，提升城市现代化治理能力和城市竞争力的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新型基础设施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是推进城市数字化、智能化、智慧化的重要手段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。通过对城市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全域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进行实时汇聚、监测、治理和分析，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全面感知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城市生命体征，辅助宏观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决策指挥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预测预警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重大事件，配置优化公共资源，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城市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有序运行，支撑政府、社会、经济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数字化转型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。在城市治理、应急管理、公共交通、生态环保、基层治理、城市服务等方面提供综合应用能力，实现</a:t>
            </a:r>
            <a:r>
              <a:rPr lang="zh-CN" altLang="en-US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整体智治、高效协同、科学决策</a:t>
            </a:r>
            <a:r>
              <a:rPr lang="zh-CN" altLang="en-US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，推进城市治理体系和治理能力现代化。</a:t>
            </a:r>
            <a:endParaRPr lang="zh-CN" altLang="en-US" b="1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34217" y="131588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什么是数字大脑？</a:t>
            </a:r>
            <a:endParaRPr kumimoji="1"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1</a:t>
            </a:r>
            <a:endParaRPr lang="zh-CN" altLang="en-US" sz="20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370143" y="253586"/>
            <a:ext cx="387701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什么是数字大脑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0341" y="4225385"/>
            <a:ext cx="5528633" cy="2268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面向生产研发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（对内）</a:t>
            </a:r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，该平台提供共性核心能力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ABCDEI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新技术核心能力</a:t>
            </a:r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，实现能力平台化、研发集约化，提高生产效率，降低生产成本；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面向项目交付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（对外）</a:t>
            </a:r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，该平台可作为“四横三纵”架构中的数字大脑实现层，为创新应用产品提供一体化、统一化、标准化、模块化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、有根化</a:t>
            </a:r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的数字大脑底座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/>
          </a:p>
        </p:txBody>
      </p:sp>
      <p:sp>
        <p:nvSpPr>
          <p:cNvPr id="61" name="矩形 60"/>
          <p:cNvSpPr/>
          <p:nvPr/>
        </p:nvSpPr>
        <p:spPr>
          <a:xfrm>
            <a:off x="315504" y="3720459"/>
            <a:ext cx="5858309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16751" y="1160770"/>
            <a:ext cx="2297723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什么是数字大脑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751" y="1539592"/>
            <a:ext cx="11558498" cy="189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数字大脑（城市大脑）是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运用大数据、云计算、物联网、人工智能、区块链、数字孪生等技术，提升行业现代化治理能力和竞争力的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新型基础设施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是推进行业数字化、智能化、智慧化的重要手段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。通过对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全域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进行实时汇聚、监测、治理和分析，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全面感知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行业生命体征，辅助宏观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决策指挥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预测预警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重大事件，配置优化公共资源，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有序运行，支撑政府、社会、经济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数字化转型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。在城市治理、应急管理、公共交通、生态环保、基层治理、城市服务等方面提供综合应用能力，实现</a:t>
            </a:r>
            <a:r>
              <a:rPr lang="zh-CN" altLang="en-US" sz="1600" b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整体智治、高效协同、科学决策</a:t>
            </a:r>
            <a:r>
              <a:rPr lang="zh-CN" altLang="en-US" sz="1600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，推进治理体系和治理能力现代化。</a:t>
            </a:r>
            <a:endParaRPr lang="zh-CN" altLang="en-US" sz="1600" b="1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50927" y="5868904"/>
            <a:ext cx="4560732" cy="52753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数字大脑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150927" y="4322856"/>
            <a:ext cx="1348154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城市大脑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757216" y="4322855"/>
            <a:ext cx="1348154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党政智脑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363505" y="4322855"/>
            <a:ext cx="1348154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农业智脑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790898" y="4401958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...</a:t>
            </a:r>
            <a:endParaRPr kumimoji="1" lang="zh-CN" altLang="en-US"/>
          </a:p>
        </p:txBody>
      </p:sp>
      <p:sp>
        <p:nvSpPr>
          <p:cNvPr id="14" name="上箭头 13"/>
          <p:cNvSpPr/>
          <p:nvPr/>
        </p:nvSpPr>
        <p:spPr>
          <a:xfrm rot="19936858">
            <a:off x="7825004" y="5156682"/>
            <a:ext cx="345604" cy="4337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上箭头 83"/>
          <p:cNvSpPr/>
          <p:nvPr/>
        </p:nvSpPr>
        <p:spPr>
          <a:xfrm>
            <a:off x="9183867" y="5128861"/>
            <a:ext cx="345604" cy="4337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上箭头 84"/>
          <p:cNvSpPr/>
          <p:nvPr/>
        </p:nvSpPr>
        <p:spPr>
          <a:xfrm rot="1696475">
            <a:off x="10543800" y="5157173"/>
            <a:ext cx="345604" cy="4337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037582" y="522627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衍生</a:t>
            </a:r>
            <a:endParaRPr kumimoji="1"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0708" y="44481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行业智脑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350708" y="59941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能力底座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2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387701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为什么要建数字大脑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6751" y="1110165"/>
            <a:ext cx="2297723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建设必要性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6751" y="1642584"/>
            <a:ext cx="11429772" cy="1526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从内部看，数字大脑是四横三纵的重要组成部分，是行业应用实现数字化、智能化、标准化、有根化的核心基础设施，是提升公司竞争力、项目中重要占位、提升项目毛利、实现创新业务高质量可持续发展的重要基础设施平台。     </a:t>
            </a:r>
            <a:endParaRPr lang="en-US" altLang="zh-CN" sz="160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      从外部看，对于智慧城市建设，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数字大脑是智慧城市发展到一定阶段的产物，也是实现城市全面数字化转型、推动城市治理体系和治理能力现代化、以技术创新形成城市发展新格局的关键抓手。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3644" y="3331793"/>
            <a:ext cx="468467" cy="3433983"/>
          </a:xfrm>
          <a:prstGeom prst="rect">
            <a:avLst/>
          </a:prstGeom>
          <a:solidFill>
            <a:srgbClr val="C00000"/>
          </a:solidFill>
        </p:spPr>
        <p:txBody>
          <a:bodyPr wrap="square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全国建设现状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4" name="表格 14"/>
          <p:cNvGraphicFramePr>
            <a:graphicFrameLocks noGrp="1"/>
          </p:cNvGraphicFramePr>
          <p:nvPr/>
        </p:nvGraphicFramePr>
        <p:xfrm>
          <a:off x="1132114" y="3331794"/>
          <a:ext cx="10462008" cy="241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255"/>
                <a:gridCol w="2731477"/>
                <a:gridCol w="6846276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地方</a:t>
                      </a:r>
                      <a:endParaRPr lang="zh-CN" altLang="en-US" sz="1100" b="1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政策名称</a:t>
                      </a:r>
                      <a:endParaRPr lang="zh-CN" altLang="en-US" sz="1100" b="1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相关主要内容</a:t>
                      </a:r>
                      <a:endParaRPr lang="zh-CN" altLang="en-US" sz="1100" b="1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上海市推进新型基础设施建设行动方案（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2020-2022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年）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endParaRPr lang="en-US" altLang="zh-CN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提出到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2022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年建成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个市大数据资源平台、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个大数据资源分平台，构建若干个数据服务中台和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个左右数据训练集，建设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个以上服务于“一网通办”“一网统管”的行业算法模型，更大范围、更宽领域、更深层次支撑城市治理全方位变革。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浙江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浙江省“城市大脑”建设应用行动方案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endParaRPr lang="en-US" altLang="zh-CN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提出推动“城市大脑”通用平台建设，加强“城市大脑”三大支撑体系建设，包括加强数字化基础支撑、加强标准规范支撑、加强技术产业支撑。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北京市加快新型基础设施建设行动方案（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2020-2022 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年）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endParaRPr lang="en-US" altLang="zh-CN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提出建设“城市大脑”，形成“用数据说话、用数据决策、用数据管理、用数据创新”的服务管理机制。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广东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广东省推进新型基础设施建设三年实施方案（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2020—2022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年）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endParaRPr lang="en-US" altLang="zh-CN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打造集数据呈现、科学决策、中枢指挥于一体的“广东大脑”，为“数字政府”改革建设提供坚实可靠的数字底座；建设政务大数据中心，搭建国产政务云服务，支持广州、深圳等有条件的城市建设“城市大脑”，构建“万物互联、无时不有、无处不在”的城市大脑神经感知网络。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19908" y="5891369"/>
            <a:ext cx="1057421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数字大庆：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日，大庆市政府发布了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数字大庆建设总体规划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(2021-2025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)》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，我公司承接的一期建设项目中，智能中枢（数字大脑）是一期建设核心。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3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387701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数字大脑建什么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66801"/>
            <a:ext cx="7989277" cy="5689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40616" y="2039815"/>
            <a:ext cx="2651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数字大脑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大核心能力</a:t>
            </a:r>
            <a:endParaRPr kumimoji="1"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05913" y="2644712"/>
            <a:ext cx="2377574" cy="2951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算力支撑能力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数据支撑能力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人工智能支撑能力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业务支撑能力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人机交互能力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开放能力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安全保障能力</a:t>
            </a:r>
            <a:endParaRPr kumimoji="1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7569" y="6542184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来自：全国信标委智慧城市标准工作组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4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387701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我公司现有能力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7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0105" y="1165731"/>
          <a:ext cx="11211790" cy="5550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8640"/>
                <a:gridCol w="7357767"/>
                <a:gridCol w="2135383"/>
              </a:tblGrid>
              <a:tr h="516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能力单元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能力说明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成熟度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12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数据支撑能力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可满足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级以下的数据全生命周期管理，主要侧重数据的采集、处理、交换、共享。</a:t>
                      </a:r>
                      <a:endParaRPr lang="en-US" altLang="zh-CN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平台从实战中总结而来，缺少体系性顶层规划，与数梦等头部企业产品功能丰富性上欠缺很多。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12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物联感知能力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支持多种协议、多种类型传感器的接入、数据采集能力，支持通过规则引擎对设备数据进行告警等能力，可与数据共享交换平台融合，实现设备数据的全生命周期管理。平台目前缺少物模型的积累。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5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视频数据处理能力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支持主流厂家监控设备视频流实时接入；支持视频流数据实时共享能力，支持视频数据与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结合实现视频数据的智能感知。在视频压缩、智能降帧、视频数据结构化等核心算法方面缺少专业性积累。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5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属于起步阶段，主攻机器视觉领域，已具备人、车、物、场常用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原子服务能力。已具备个性化场景需求的模型训练能力。基于视频数据的行业典型场景化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模型缺少积累。缺少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OCR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NLP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等领域的支持，缺少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开发平台。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5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支持零代码方式完成数据大屏的设计与开发能力，目前内置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130+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数据大屏模板。具备基于倾斜摄影技术实现实景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3D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建模能力；具备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3D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数字孪生建模能力；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12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大数据能力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1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hadoop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族构建起针对海量数据处理场景的大数据平台，支持海量数据的实时采集、处理、存储、检索等能力。已在集团多个项目中进行实战检验。平台目前在国产化环境下需要适配优化，并且缺少易于操控的可视化界面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163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区块链能力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暂无无区块链相关平台及服务产品。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12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安全服务能力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主要依靠专业厂家提供的服务与产品，缺少网络威胁态势感知及必要的日志审计能力，造成事前不知道，事后无法追溯。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412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研发基座及零代码开发平台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研发基座已具备开发过程中高频所需的技术组件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余款，零代码开发平台支持通过拖拉拽方式完成逻辑构建。目前，零代码开发平台对前端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的支持尚不完善，平台目前主要面向开发人员，非开发人员上手难度较大。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492154" y="6577521"/>
            <a:ext cx="1356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颗星为最佳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5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数字大脑迭代建设内容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045" y="1908007"/>
            <a:ext cx="11968480" cy="4913798"/>
          </a:xfrm>
          <a:prstGeom prst="rect">
            <a:avLst/>
          </a:prstGeom>
          <a:solidFill>
            <a:srgbClr val="5C97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1204083" y="1973637"/>
            <a:ext cx="9311005" cy="478155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1220470" y="2520778"/>
            <a:ext cx="9310370" cy="3195955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228573" y="5793006"/>
            <a:ext cx="9310370" cy="466725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1219835" y="6322695"/>
            <a:ext cx="9310370" cy="415925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 rot="5400000">
            <a:off x="-1875127" y="4069743"/>
            <a:ext cx="4730693" cy="538480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 rot="5400000">
            <a:off x="9345165" y="4113400"/>
            <a:ext cx="4736089" cy="514985"/>
          </a:xfrm>
          <a:prstGeom prst="parallelogram">
            <a:avLst>
              <a:gd name="adj" fmla="val 0"/>
            </a:avLst>
          </a:prstGeom>
          <a:solidFill>
            <a:srgbClr val="2C70B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0389235" y="1976120"/>
            <a:ext cx="519430" cy="4735195"/>
            <a:chOff x="15411" y="3112"/>
            <a:chExt cx="818" cy="7457"/>
          </a:xfrm>
        </p:grpSpPr>
        <p:sp>
          <p:nvSpPr>
            <p:cNvPr id="17" name="左箭头 16"/>
            <p:cNvSpPr/>
            <p:nvPr/>
          </p:nvSpPr>
          <p:spPr>
            <a:xfrm>
              <a:off x="15411" y="3112"/>
              <a:ext cx="802" cy="612"/>
            </a:xfrm>
            <a:prstGeom prst="leftArrow">
              <a:avLst/>
            </a:prstGeom>
            <a:solidFill>
              <a:srgbClr val="2C70B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左箭头 17"/>
            <p:cNvSpPr/>
            <p:nvPr/>
          </p:nvSpPr>
          <p:spPr>
            <a:xfrm>
              <a:off x="15411" y="5701"/>
              <a:ext cx="802" cy="612"/>
            </a:xfrm>
            <a:prstGeom prst="leftArrow">
              <a:avLst/>
            </a:prstGeom>
            <a:solidFill>
              <a:srgbClr val="2C70B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左箭头 18"/>
            <p:cNvSpPr/>
            <p:nvPr/>
          </p:nvSpPr>
          <p:spPr>
            <a:xfrm>
              <a:off x="15414" y="7902"/>
              <a:ext cx="802" cy="612"/>
            </a:xfrm>
            <a:prstGeom prst="leftArrow">
              <a:avLst/>
            </a:prstGeom>
            <a:solidFill>
              <a:srgbClr val="2C70B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左箭头 19"/>
            <p:cNvSpPr/>
            <p:nvPr/>
          </p:nvSpPr>
          <p:spPr>
            <a:xfrm>
              <a:off x="15427" y="9957"/>
              <a:ext cx="802" cy="612"/>
            </a:xfrm>
            <a:prstGeom prst="leftArrow">
              <a:avLst/>
            </a:prstGeom>
            <a:solidFill>
              <a:srgbClr val="2C70B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0858348" y="2011670"/>
            <a:ext cx="538712" cy="899614"/>
            <a:chOff x="10413850" y="1749227"/>
            <a:chExt cx="538712" cy="899614"/>
          </a:xfrm>
          <a:solidFill>
            <a:srgbClr val="B8642E"/>
          </a:solidFill>
        </p:grpSpPr>
        <p:sp>
          <p:nvSpPr>
            <p:cNvPr id="22" name="平行四边形 21"/>
            <p:cNvSpPr/>
            <p:nvPr/>
          </p:nvSpPr>
          <p:spPr>
            <a:xfrm rot="5400000">
              <a:off x="10233399" y="1929678"/>
              <a:ext cx="899614" cy="538712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505124" y="1749227"/>
              <a:ext cx="356164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应用安全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858348" y="3274259"/>
            <a:ext cx="538712" cy="899614"/>
            <a:chOff x="10413850" y="1749227"/>
            <a:chExt cx="538712" cy="899614"/>
          </a:xfrm>
          <a:solidFill>
            <a:srgbClr val="B8642E"/>
          </a:solidFill>
        </p:grpSpPr>
        <p:sp>
          <p:nvSpPr>
            <p:cNvPr id="25" name="平行四边形 24"/>
            <p:cNvSpPr/>
            <p:nvPr/>
          </p:nvSpPr>
          <p:spPr>
            <a:xfrm rot="5400000">
              <a:off x="10233399" y="1929678"/>
              <a:ext cx="899614" cy="538712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505124" y="1749227"/>
              <a:ext cx="356164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数据安全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858983" y="4575944"/>
            <a:ext cx="538712" cy="899614"/>
            <a:chOff x="10413850" y="1749227"/>
            <a:chExt cx="538712" cy="899614"/>
          </a:xfrm>
          <a:solidFill>
            <a:srgbClr val="B8642E"/>
          </a:solidFill>
        </p:grpSpPr>
        <p:sp>
          <p:nvSpPr>
            <p:cNvPr id="28" name="平行四边形 27"/>
            <p:cNvSpPr/>
            <p:nvPr/>
          </p:nvSpPr>
          <p:spPr>
            <a:xfrm rot="5400000">
              <a:off x="10233399" y="1929678"/>
              <a:ext cx="899614" cy="538712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505124" y="1749227"/>
              <a:ext cx="356164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网络安全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858348" y="5838827"/>
            <a:ext cx="538712" cy="899614"/>
            <a:chOff x="10413850" y="1749227"/>
            <a:chExt cx="538712" cy="899614"/>
          </a:xfrm>
          <a:solidFill>
            <a:srgbClr val="B8642E"/>
          </a:solidFill>
        </p:grpSpPr>
        <p:sp>
          <p:nvSpPr>
            <p:cNvPr id="31" name="平行四边形 30"/>
            <p:cNvSpPr/>
            <p:nvPr/>
          </p:nvSpPr>
          <p:spPr>
            <a:xfrm rot="5400000">
              <a:off x="10233399" y="1929678"/>
              <a:ext cx="899614" cy="538712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505124" y="1749227"/>
              <a:ext cx="356164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物理安全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4987705" y="627089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智慧感知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78028" y="576739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智慧联接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00938" y="253559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数字大脑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116535" y="192390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智慧应用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09903" y="6002556"/>
            <a:ext cx="7536815" cy="217170"/>
            <a:chOff x="1701168" y="5057929"/>
            <a:chExt cx="8294811" cy="281129"/>
          </a:xfrm>
        </p:grpSpPr>
        <p:sp>
          <p:nvSpPr>
            <p:cNvPr id="38" name="圆角矩形 37"/>
            <p:cNvSpPr/>
            <p:nvPr/>
          </p:nvSpPr>
          <p:spPr>
            <a:xfrm>
              <a:off x="1701168" y="5057929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卫星通信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124477" y="5059898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光传输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4547786" y="5059898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物联网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5971095" y="5059898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4G/5G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7394404" y="5062059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宽带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8817715" y="5062059"/>
              <a:ext cx="1178264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专网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729105" y="6517005"/>
            <a:ext cx="7508875" cy="201295"/>
            <a:chOff x="1729401" y="6309972"/>
            <a:chExt cx="8633081" cy="282873"/>
          </a:xfrm>
        </p:grpSpPr>
        <p:sp>
          <p:nvSpPr>
            <p:cNvPr id="45" name="圆角矩形 44"/>
            <p:cNvSpPr/>
            <p:nvPr/>
          </p:nvSpPr>
          <p:spPr>
            <a:xfrm>
              <a:off x="1729401" y="6309972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天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2707413" y="6311941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3685425" y="6311941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4663437" y="6311941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事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5641450" y="6314102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6619463" y="6314102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情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7596824" y="6313685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8574837" y="6315846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9552850" y="6315846"/>
              <a:ext cx="809632" cy="27699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1934652" y="1908007"/>
            <a:ext cx="107505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做优大应用</a:t>
            </a:r>
            <a:endParaRPr kumimoji="1" lang="zh-CN" altLang="en-US" sz="1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950404" y="2592308"/>
            <a:ext cx="107505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做强大计算</a:t>
            </a:r>
            <a:endParaRPr kumimoji="1" lang="zh-CN" altLang="en-US" sz="1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512574" y="2592308"/>
            <a:ext cx="107505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做透大数据</a:t>
            </a:r>
            <a:endParaRPr kumimoji="1" lang="zh-CN" altLang="en-US" sz="1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978827" y="573921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做深大联接</a:t>
            </a:r>
            <a:endParaRPr kumimoji="1" lang="zh-CN" altLang="en-US" sz="1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950404" y="627490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kumimoji="1" lang="zh-CN" altLang="en-US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做深大联接</a:t>
            </a:r>
            <a:endParaRPr kumimoji="1" lang="zh-CN" altLang="en-US" sz="1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427306" y="1990931"/>
            <a:ext cx="415290" cy="4556125"/>
            <a:chOff x="15561" y="2582"/>
            <a:chExt cx="654" cy="8142"/>
          </a:xfrm>
        </p:grpSpPr>
        <p:sp>
          <p:nvSpPr>
            <p:cNvPr id="60" name="文本框 59"/>
            <p:cNvSpPr txBox="1"/>
            <p:nvPr/>
          </p:nvSpPr>
          <p:spPr>
            <a:xfrm>
              <a:off x="15561" y="2582"/>
              <a:ext cx="654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</a:t>
              </a:r>
              <a:endParaRPr kumimoji="1" lang="zh-CN" altLang="en-US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5561" y="4461"/>
              <a:ext cx="64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/>
              <a:r>
                <a:rPr kumimoji="1" lang="zh-CN" altLang="en-US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精</a:t>
              </a:r>
              <a:endParaRPr kumimoji="1" lang="zh-CN" altLang="en-US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561" y="6387"/>
              <a:ext cx="64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/>
              <a:r>
                <a:rPr kumimoji="1" lang="zh-CN" altLang="en-US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大</a:t>
              </a:r>
              <a:endParaRPr kumimoji="1" lang="zh-CN" altLang="en-US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561" y="8266"/>
              <a:ext cx="64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/>
              <a:r>
                <a:rPr kumimoji="1" lang="zh-CN" altLang="en-US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安</a:t>
              </a:r>
              <a:endParaRPr kumimoji="1" lang="zh-CN" altLang="en-US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5561" y="10144"/>
              <a:ext cx="64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/>
              <a:r>
                <a:rPr kumimoji="1" lang="zh-CN" altLang="en-US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全</a:t>
              </a:r>
              <a:endParaRPr kumimoji="1" lang="zh-CN" altLang="en-US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11488368" y="3016885"/>
            <a:ext cx="3561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安全保障系统</a:t>
            </a:r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737235" y="2120265"/>
            <a:ext cx="510540" cy="4564380"/>
            <a:chOff x="1836" y="3339"/>
            <a:chExt cx="804" cy="7188"/>
          </a:xfrm>
        </p:grpSpPr>
        <p:sp>
          <p:nvSpPr>
            <p:cNvPr id="67" name="右箭头 66"/>
            <p:cNvSpPr/>
            <p:nvPr/>
          </p:nvSpPr>
          <p:spPr>
            <a:xfrm>
              <a:off x="1836" y="3339"/>
              <a:ext cx="738" cy="4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右箭头 67"/>
            <p:cNvSpPr/>
            <p:nvPr/>
          </p:nvSpPr>
          <p:spPr>
            <a:xfrm>
              <a:off x="1859" y="5509"/>
              <a:ext cx="738" cy="4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右箭头 68"/>
            <p:cNvSpPr/>
            <p:nvPr/>
          </p:nvSpPr>
          <p:spPr>
            <a:xfrm>
              <a:off x="1902" y="9272"/>
              <a:ext cx="738" cy="4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右箭头 69"/>
            <p:cNvSpPr/>
            <p:nvPr/>
          </p:nvSpPr>
          <p:spPr>
            <a:xfrm>
              <a:off x="1875" y="10042"/>
              <a:ext cx="738" cy="4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1412916" y="2168770"/>
            <a:ext cx="8495030" cy="218680"/>
            <a:chOff x="3020" y="3058"/>
            <a:chExt cx="13378" cy="540"/>
          </a:xfrm>
        </p:grpSpPr>
        <p:sp>
          <p:nvSpPr>
            <p:cNvPr id="72" name="圆角矩形 71"/>
            <p:cNvSpPr/>
            <p:nvPr/>
          </p:nvSpPr>
          <p:spPr>
            <a:xfrm>
              <a:off x="3020" y="3068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工业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4176" y="3068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农业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5387" y="3069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科教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圆角矩形 74"/>
            <p:cNvSpPr/>
            <p:nvPr/>
          </p:nvSpPr>
          <p:spPr>
            <a:xfrm>
              <a:off x="6627" y="3074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生态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7867" y="3069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文化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9064" y="3069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旅游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10266" y="3069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党建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11462" y="3068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12634" y="3068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应急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13839" y="3068"/>
              <a:ext cx="1055" cy="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住建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15033" y="3058"/>
              <a:ext cx="1365" cy="521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智慧城市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10046949" y="200284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2245286" y="3284177"/>
            <a:ext cx="1417452" cy="30670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2245286" y="3600785"/>
            <a:ext cx="1417452" cy="165995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3837931" y="3280847"/>
            <a:ext cx="1417452" cy="30670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物联感知中台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3837931" y="3597323"/>
            <a:ext cx="1417452" cy="1659952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5430576" y="3278564"/>
            <a:ext cx="1417452" cy="30670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中台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430576" y="3597323"/>
            <a:ext cx="1417452" cy="165649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7023221" y="3285500"/>
            <a:ext cx="1417452" cy="30670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视频中台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7023221" y="3600785"/>
            <a:ext cx="1417452" cy="164956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8615866" y="3290618"/>
            <a:ext cx="1417452" cy="30670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区块链平台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8615866" y="3600785"/>
            <a:ext cx="1417452" cy="165302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1626718" y="5311783"/>
            <a:ext cx="8436911" cy="306705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联通云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662170" y="3284177"/>
            <a:ext cx="436423" cy="196963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全栈零代码开发平台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8011" y="2898578"/>
            <a:ext cx="35616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    慧指挥调度系统</a:t>
            </a:r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736484" y="4050052"/>
            <a:ext cx="1192179" cy="4648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 algn="ctr" fontAlgn="auto">
              <a:lnSpc>
                <a:spcPct val="110000"/>
              </a:lnSpc>
              <a:defRPr sz="11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>
                <a:sym typeface="+mn-ea"/>
              </a:rPr>
              <a:t>BaaS</a:t>
            </a:r>
            <a:r>
              <a:rPr lang="zh-CN" altLang="en-US">
                <a:sym typeface="+mn-ea"/>
              </a:rPr>
              <a:t>平台</a:t>
            </a:r>
            <a:endParaRPr lang="zh-CN" altLang="en-US"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607867" y="3812953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能力服务中心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607093" y="4166277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预训练模型库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590574" y="4519601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模型开发中心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592129" y="4872926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数据处理中心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626718" y="2908009"/>
            <a:ext cx="8436911" cy="306705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统一服务网关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203945" y="3812953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视频接入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203945" y="4166277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视频处理服务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203945" y="4519601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泛视频源接入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7203945" y="4872925"/>
            <a:ext cx="1104855" cy="2655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以图搜图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971594" y="3812953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设备接入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3963489" y="4166277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设备联动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955384" y="4519601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规则引擎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947279" y="4872925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告警处理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2415855" y="3808222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数据采集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07750" y="4161546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共享交换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399645" y="4514870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数据可视化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2391540" y="4868194"/>
            <a:ext cx="1104855" cy="26552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>
            <a:defPPr>
              <a:defRPr lang="zh-CN"/>
            </a:defPPr>
            <a:lvl1pPr lvl="0" algn="ctr" fontAlgn="auto">
              <a:lnSpc>
                <a:spcPct val="110000"/>
              </a:lnSpc>
              <a:defRPr sz="1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+mn-ea"/>
              </a:rPr>
              <a:t>大数据平台</a:t>
            </a:r>
            <a:endParaRPr lang="zh-CN" altLang="en-US"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1529298" y="4834010"/>
            <a:ext cx="380466" cy="15689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ctr" fontAlgn="auto">
              <a:lnSpc>
                <a:spcPct val="110000"/>
              </a:lnSpc>
            </a:pPr>
            <a:r>
              <a: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安全态势感知平台</a:t>
            </a:r>
            <a:endParaRPr lang="zh-CN" altLang="en-US" sz="1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205895" y="995815"/>
            <a:ext cx="11429772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为弥补能力短板，促进能力平台化、研发集约化，提升公司整体竞争力，在已有成果基础上，提出本期建设迭代内容；包括：新增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中台、区块链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BaaS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平台、安全态势感知平台。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6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en-US" altLang="zh-CN" sz="3200" dirty="0">
                <a:solidFill>
                  <a:srgbClr val="C00000"/>
                </a:solidFill>
              </a:rPr>
              <a:t>AI</a:t>
            </a:r>
            <a:r>
              <a:rPr lang="zh-CN" altLang="en-US" sz="3200" dirty="0">
                <a:solidFill>
                  <a:srgbClr val="C00000"/>
                </a:solidFill>
              </a:rPr>
              <a:t>中台建设内容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4109" y="2318711"/>
            <a:ext cx="3763107" cy="568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数据管理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648199" y="2318711"/>
            <a:ext cx="2895601" cy="568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模型构建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094784" y="2318711"/>
            <a:ext cx="3763107" cy="568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模型部署与应用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34109" y="2996777"/>
            <a:ext cx="3763107" cy="3017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588439" y="3175336"/>
            <a:ext cx="1470407" cy="2575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2382908" y="317533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382908" y="385224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382908" y="452915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数据扩充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382908" y="520606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数据标注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8094784" y="2996777"/>
            <a:ext cx="3763107" cy="3017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10211412" y="3175335"/>
            <a:ext cx="1470407" cy="2575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en-US" altLang="zh-CN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服务门户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8416943" y="317533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云部署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416943" y="385224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容器化部署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8416943" y="452915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私有化部署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8416943" y="5206067"/>
            <a:ext cx="1470407" cy="5447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线上发布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648199" y="2996777"/>
            <a:ext cx="2895601" cy="3017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973708" y="3171959"/>
            <a:ext cx="2239944" cy="12250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4973708" y="4525779"/>
            <a:ext cx="2239944" cy="12250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6589" y="3628051"/>
            <a:ext cx="954107" cy="1444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图片数据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文本数据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视频数据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音频数据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燕尾形 4"/>
          <p:cNvSpPr/>
          <p:nvPr/>
        </p:nvSpPr>
        <p:spPr>
          <a:xfrm>
            <a:off x="2140909" y="4275542"/>
            <a:ext cx="172733" cy="24296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tx1"/>
              </a:solidFill>
            </a:endParaRPr>
          </a:p>
        </p:txBody>
      </p:sp>
      <p:sp>
        <p:nvSpPr>
          <p:cNvPr id="137" name="燕尾形 136"/>
          <p:cNvSpPr/>
          <p:nvPr/>
        </p:nvSpPr>
        <p:spPr>
          <a:xfrm>
            <a:off x="4284439" y="4275542"/>
            <a:ext cx="172733" cy="24296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8" name="燕尾形 137"/>
          <p:cNvSpPr/>
          <p:nvPr/>
        </p:nvSpPr>
        <p:spPr>
          <a:xfrm>
            <a:off x="9974435" y="4275542"/>
            <a:ext cx="172733" cy="24296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9" name="燕尾形 138"/>
          <p:cNvSpPr/>
          <p:nvPr/>
        </p:nvSpPr>
        <p:spPr>
          <a:xfrm>
            <a:off x="7731023" y="4275542"/>
            <a:ext cx="172733" cy="24296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5315834" y="3341028"/>
            <a:ext cx="1638590" cy="890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图像分类  物体检测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视频分类 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文本分类  语音分类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1" name="图形 140" descr="Web 设计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355" y="4685841"/>
            <a:ext cx="498649" cy="452469"/>
          </a:xfrm>
          <a:prstGeom prst="rect">
            <a:avLst/>
          </a:prstGeom>
        </p:spPr>
      </p:pic>
      <p:sp>
        <p:nvSpPr>
          <p:cNvPr id="143" name="文本框 142"/>
          <p:cNvSpPr txBox="1"/>
          <p:nvPr/>
        </p:nvSpPr>
        <p:spPr>
          <a:xfrm>
            <a:off x="5078016" y="5267067"/>
            <a:ext cx="2031325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预置人、车、物预训练模型</a:t>
            </a:r>
            <a:endParaRPr kumimoji="1"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34109" y="1072178"/>
            <a:ext cx="11523782" cy="115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中台主要建设内容包括：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，数据处理中心实现数据标注、数据分类、数据清洗、数据计算、数据特征工程等功能。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，模型开发中心提供场景化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模型全生命周期可视化训练功能。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，提供“人、车、物、场”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原子能力。提供证照识别、病虫害识别等聚焦领域预训练模型。</a:t>
            </a:r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334109" y="6178832"/>
            <a:ext cx="11523782" cy="5392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PaddlePaddle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GB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MindSpore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MXNet</a:t>
            </a:r>
            <a:r>
              <a:rPr kumimoji="1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7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en-US" altLang="zh-CN" sz="3200" dirty="0">
                <a:solidFill>
                  <a:srgbClr val="C00000"/>
                </a:solidFill>
              </a:rPr>
              <a:t>AI</a:t>
            </a:r>
            <a:r>
              <a:rPr lang="zh-CN" altLang="en-US" sz="3200" dirty="0">
                <a:solidFill>
                  <a:srgbClr val="C00000"/>
                </a:solidFill>
              </a:rPr>
              <a:t>中台建设明细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1497" y="1386219"/>
          <a:ext cx="10909935" cy="496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860"/>
                <a:gridCol w="1635125"/>
                <a:gridCol w="1521460"/>
                <a:gridCol w="3389580"/>
                <a:gridCol w="2182055"/>
              </a:tblGrid>
              <a:tr h="56388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工作量（人日）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模型分类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模型分类列表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查询模型分类列表，用户可按需选择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892810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微软雅黑" charset="0"/>
                          <a:ea typeface="微软雅黑" charset="0"/>
                          <a:sym typeface="+mn-ea"/>
                        </a:rPr>
                        <a:t>模型中心</a:t>
                      </a:r>
                      <a:endParaRPr lang="zh-CN" altLang="en-US" sz="180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我的模型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当前用户创建的模型列表管理，可查看历史版本、校验模型、生成</a:t>
                      </a:r>
                      <a:r>
                        <a:rPr lang="en-US" altLang="zh-CN" sz="18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H5</a:t>
                      </a:r>
                      <a:r>
                        <a:rPr lang="zh-CN" altLang="en-US" sz="18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以及基础维护功能</a:t>
                      </a:r>
                      <a:endParaRPr lang="zh-CN" altLang="en-US" sz="18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  <a:sym typeface="+mn-ea"/>
                        </a:rPr>
                        <a:t>创建模型</a:t>
                      </a:r>
                      <a:endParaRPr lang="zh-CN" altLang="en-US" sz="180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填写模型基础信息并创建模型对象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8356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charset="0"/>
                          <a:ea typeface="微软雅黑" charset="0"/>
                          <a:sym typeface="+mn-ea"/>
                        </a:rPr>
                        <a:t>训练模型</a:t>
                      </a:r>
                      <a:endParaRPr lang="zh-CN" altLang="en-US" sz="180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填写模型配置信息，关联模型和数据集，即可开始训练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charset="0"/>
                          <a:ea typeface="微软雅黑" charset="0"/>
                          <a:sym typeface="+mn-ea"/>
                        </a:rPr>
                        <a:t>校验模型</a:t>
                      </a:r>
                      <a:endParaRPr lang="zh-CN" altLang="en-US" sz="180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选择相关模型以及版本、部署方式，可启动模型校验服务，校验模型功能正确性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91503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charset="0"/>
                          <a:ea typeface="微软雅黑" charset="0"/>
                          <a:sym typeface="+mn-ea"/>
                        </a:rPr>
                        <a:t>发布模型</a:t>
                      </a:r>
                      <a:endParaRPr lang="zh-CN" altLang="en-US" sz="180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微软雅黑" charset="0"/>
                          <a:ea typeface="微软雅黑" charset="0"/>
                        </a:rPr>
                        <a:t>发布指定模型到已配置的部署方式中，可在我的模型中查看已发布的模型</a:t>
                      </a:r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7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en-US" altLang="zh-CN" sz="3200" dirty="0">
                <a:solidFill>
                  <a:srgbClr val="C00000"/>
                </a:solidFill>
              </a:rPr>
              <a:t>AI</a:t>
            </a:r>
            <a:r>
              <a:rPr lang="zh-CN" altLang="en-US" sz="3200" dirty="0">
                <a:solidFill>
                  <a:srgbClr val="C00000"/>
                </a:solidFill>
              </a:rPr>
              <a:t>中台建设明细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2917" y="1173494"/>
          <a:ext cx="10910570" cy="541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55"/>
                <a:gridCol w="1623695"/>
                <a:gridCol w="1544320"/>
                <a:gridCol w="3776980"/>
                <a:gridCol w="1783225"/>
              </a:tblGrid>
              <a:tr h="563880"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工作量（人日）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rowSpan="6"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数据总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览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维护当前用户当前类型的数据集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标注数据集中的识别素材，进行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分类，以便模型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识别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导入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使用本地上传、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BOS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目录导入、分享链接导入、摄像头采集等方式将识别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基本素材导入到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可对图片、文本进行清洗。包括图片的去近似、去模糊、裁剪、旋转、镜像功能，以及文本的去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emoji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、去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、繁体转简体等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51815">
                <a:tc>
                  <a:txBody>
                    <a:bodyPr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质检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对数据集中的数据评估，从色彩空间、图像大小、高宽比、分辨率、色偏、清晰度等方面着手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518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标签组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维护用于数据标注的标签以及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标签组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8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区块链平台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34109" y="1072178"/>
            <a:ext cx="11523782" cy="1526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日，工信部发布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中国区块链技术和应用发展白皮书（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开始，国家发布了新基建、十四五规划、数字经济发展规划等一些列政策，将区块链技术上升到国家战略。区块链平台已成为当下数字经济建设中重要的数字基础设施。</a:t>
            </a:r>
            <a:endParaRPr lang="en-US" altLang="zh-CN" sz="160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主要建设内容：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账本模型、共识框架及算法（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PBFT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）、存储引擎（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KV+SQL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rocksdb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CRUD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接上链接口）、智能合约、密码算法及协议、安全控制（通信、准入、证书、权限）、隐私保护、跨链协议、运维支持。</a:t>
            </a:r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64" y="2598301"/>
            <a:ext cx="9172471" cy="414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9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区块链平台建设明细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5"/>
          <p:cNvGraphicFramePr>
            <a:graphicFrameLocks noGrp="1"/>
          </p:cNvGraphicFramePr>
          <p:nvPr/>
        </p:nvGraphicFramePr>
        <p:xfrm>
          <a:off x="640862" y="1727849"/>
          <a:ext cx="10910275" cy="4508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55"/>
                <a:gridCol w="2182055"/>
                <a:gridCol w="2182055"/>
                <a:gridCol w="2182055"/>
                <a:gridCol w="2182055"/>
              </a:tblGrid>
              <a:tr h="563603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工作量（人日）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9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3" y="315816"/>
            <a:ext cx="4432762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安全态势感知平台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34109" y="1057711"/>
            <a:ext cx="11523782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网络安全态势感知平台作为网络安全的实时守护者，是实现“全天候全方位感知网络安全态势”的主要手段。主要实现内容包括：系统日志采集、日志审计分析、威胁特征库、漏洞信息库、威胁评估库、态势洞察等功能。</a:t>
            </a:r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09" y="2005439"/>
            <a:ext cx="4168406" cy="466126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6381" y="6443171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Tim</a:t>
            </a:r>
            <a:r>
              <a:rPr kumimoji="1" lang="zh-CN" altLang="en-US"/>
              <a:t> </a:t>
            </a:r>
            <a:r>
              <a:rPr kumimoji="1" lang="en-US" altLang="zh-CN"/>
              <a:t>Bass</a:t>
            </a:r>
            <a:r>
              <a:rPr kumimoji="1" lang="zh-CN" altLang="en-US"/>
              <a:t>模型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33709" y="5230608"/>
            <a:ext cx="6096000" cy="14446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级数据精炼：负责提取、过滤和校准原始数据； 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级对象精炼：将数据规范化，做时空关联，按相对重要性赋予权重； 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级态势评估：负责抽象及评定当前的安全状况； 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级威胁评估：基于当前状况评估可能产生的影响； 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级资源管理：负责整个过程的管理。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09" y="1845171"/>
            <a:ext cx="4933587" cy="33203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84514" cy="94705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>
            <a:lvl1pPr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 eaLnBrk="0" hangingPunct="0">
              <a:spcBef>
                <a:spcPct val="0"/>
              </a:spcBef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i="0" dirty="0">
                <a:solidFill>
                  <a:srgbClr val="FFFFFF"/>
                </a:solidFill>
                <a:ea typeface="微软雅黑" panose="020B0503020204020204" pitchFamily="34" charset="-122"/>
              </a:rPr>
              <a:t>10</a:t>
            </a:r>
            <a:endParaRPr lang="en-US" altLang="zh-CN" sz="2800" i="0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1403162" y="315816"/>
            <a:ext cx="5196929" cy="631262"/>
          </a:xfrm>
        </p:spPr>
        <p:txBody>
          <a:bodyPr/>
          <a:lstStyle/>
          <a:p>
            <a:r>
              <a:rPr lang="zh-CN" altLang="en-US" sz="3200" dirty="0">
                <a:solidFill>
                  <a:srgbClr val="C00000"/>
                </a:solidFill>
              </a:rPr>
              <a:t>安全态势感知平台建设明细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5"/>
          <p:cNvGraphicFramePr>
            <a:graphicFrameLocks noGrp="1"/>
          </p:cNvGraphicFramePr>
          <p:nvPr/>
        </p:nvGraphicFramePr>
        <p:xfrm>
          <a:off x="640862" y="1727849"/>
          <a:ext cx="10910275" cy="4508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55"/>
                <a:gridCol w="2182055"/>
                <a:gridCol w="2182055"/>
                <a:gridCol w="2182055"/>
                <a:gridCol w="2182055"/>
              </a:tblGrid>
              <a:tr h="563603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工作量（人日）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63603"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969561" y="2383988"/>
            <a:ext cx="10252878" cy="2004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14095" eaLnBrk="0" hangingPunct="0">
              <a:lnSpc>
                <a:spcPct val="150000"/>
              </a:lnSpc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始于心 践于行</a:t>
            </a:r>
            <a:endParaRPr lang="zh-CN" altLang="en-US" sz="4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014095" eaLnBrk="0" hangingPunct="0">
              <a:lnSpc>
                <a:spcPct val="150000"/>
              </a:lnSpc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一分部署 九分落实</a:t>
            </a:r>
            <a:endParaRPr lang="zh-CN" altLang="en-US" sz="4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8ae5691-72c2-4eec-b587-a15aeade2e57}"/>
</p:tagLst>
</file>

<file path=ppt/tags/tag2.xml><?xml version="1.0" encoding="utf-8"?>
<p:tagLst xmlns:p="http://schemas.openxmlformats.org/presentationml/2006/main">
  <p:tag name="KSO_WM_UNIT_TABLE_BEAUTIFY" val="smartTable{d0c45b23-281b-4d78-8339-3358af7b56de}"/>
</p:tagLst>
</file>

<file path=ppt/tags/tag3.xml><?xml version="1.0" encoding="utf-8"?>
<p:tagLst xmlns:p="http://schemas.openxmlformats.org/presentationml/2006/main">
  <p:tag name="KSO_WM_UNIT_TABLE_BEAUTIFY" val="smartTable{bff1a7b5-f67c-41b1-9e04-66772534d335}"/>
</p:tagLst>
</file>

<file path=ppt/tags/tag4.xml><?xml version="1.0" encoding="utf-8"?>
<p:tagLst xmlns:p="http://schemas.openxmlformats.org/presentationml/2006/main">
  <p:tag name="KSO_WM_DOC_GUID" val="{b2aa1775-5b06-4f53-aa98-23bfbe5fa936}"/>
</p:tagLst>
</file>

<file path=ppt/theme/theme1.xml><?xml version="1.0" encoding="utf-8"?>
<a:theme xmlns:a="http://schemas.openxmlformats.org/drawingml/2006/main" name="1_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  <a:alpha val="20000"/>
          </a:schemeClr>
        </a:solidFill>
        <a:ln w="6350">
          <a:noFill/>
        </a:ln>
      </a:spPr>
      <a:bodyPr lIns="47999" tIns="47999" rIns="47999" bIns="47999" anchor="t"/>
      <a:lstStyle>
        <a:defPPr eaLnBrk="0" hangingPunct="0">
          <a:lnSpc>
            <a:spcPct val="120000"/>
          </a:lnSpc>
          <a:spcBef>
            <a:spcPct val="20000"/>
          </a:spcBef>
          <a:buClr>
            <a:srgbClr val="C00000"/>
          </a:buClr>
          <a:buSzPct val="100000"/>
          <a:defRPr b="1" dirty="0">
            <a:solidFill>
              <a:srgbClr val="C00000"/>
            </a:solidFill>
            <a:latin typeface="+mn-ea"/>
            <a:sym typeface="Arial" panose="020B0604020202020204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NordriDesign">
  <a:themeElements>
    <a:clrScheme name="Nordri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399"/>
      </a:hlink>
      <a:folHlink>
        <a:srgbClr val="3366CC"/>
      </a:folHlink>
    </a:clrScheme>
    <a:fontScheme name="Nordri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ordri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rdri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2A62BC"/>
        </a:accent1>
        <a:accent2>
          <a:srgbClr val="22458A"/>
        </a:accent2>
        <a:accent3>
          <a:srgbClr val="FFFFFF"/>
        </a:accent3>
        <a:accent4>
          <a:srgbClr val="000000"/>
        </a:accent4>
        <a:accent5>
          <a:srgbClr val="ACB7DA"/>
        </a:accent5>
        <a:accent6>
          <a:srgbClr val="1E3E7D"/>
        </a:accent6>
        <a:hlink>
          <a:srgbClr val="00000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rdri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66CC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ADB8E2"/>
        </a:accent5>
        <a:accent6>
          <a:srgbClr val="002D5C"/>
        </a:accent6>
        <a:hlink>
          <a:srgbClr val="003366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U_Template 2000">
  <a:themeElements>
    <a:clrScheme name="1_U_Template 2000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1_U_Template 2000">
      <a:majorFont>
        <a:latin typeface="Arial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BE0E3"/>
        </a:solidFill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BE0E3"/>
        </a:solidFill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1_U_Template 2000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_Template 2000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_Template 2000 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_Template 2000 4">
        <a:dk1>
          <a:srgbClr val="000000"/>
        </a:dk1>
        <a:lt1>
          <a:srgbClr val="FFFFFF"/>
        </a:lt1>
        <a:dk2>
          <a:srgbClr val="0000FE"/>
        </a:dk2>
        <a:lt2>
          <a:srgbClr val="000000"/>
        </a:lt2>
        <a:accent1>
          <a:srgbClr val="6598FF"/>
        </a:accent1>
        <a:accent2>
          <a:srgbClr val="FF8700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E77A00"/>
        </a:accent6>
        <a:hlink>
          <a:srgbClr val="33CB33"/>
        </a:hlink>
        <a:folHlink>
          <a:srgbClr val="0000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_Template 2000 5">
        <a:dk1>
          <a:srgbClr val="000000"/>
        </a:dk1>
        <a:lt1>
          <a:srgbClr val="FFFFFF"/>
        </a:lt1>
        <a:dk2>
          <a:srgbClr val="0000FE"/>
        </a:dk2>
        <a:lt2>
          <a:srgbClr val="000000"/>
        </a:lt2>
        <a:accent1>
          <a:srgbClr val="6598FF"/>
        </a:accent1>
        <a:accent2>
          <a:srgbClr val="FEFB00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E6E300"/>
        </a:accent6>
        <a:hlink>
          <a:srgbClr val="33CB33"/>
        </a:hlink>
        <a:folHlink>
          <a:srgbClr val="0000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_Template 2000 6">
        <a:dk1>
          <a:srgbClr val="6598FF"/>
        </a:dk1>
        <a:lt1>
          <a:srgbClr val="FFFFFF"/>
        </a:lt1>
        <a:dk2>
          <a:srgbClr val="000000"/>
        </a:dk2>
        <a:lt2>
          <a:srgbClr val="FEFB00"/>
        </a:lt2>
        <a:accent1>
          <a:srgbClr val="0000FE"/>
        </a:accent1>
        <a:accent2>
          <a:srgbClr val="6598FF"/>
        </a:accent2>
        <a:accent3>
          <a:srgbClr val="AAAAAA"/>
        </a:accent3>
        <a:accent4>
          <a:srgbClr val="DADADA"/>
        </a:accent4>
        <a:accent5>
          <a:srgbClr val="AAAAFE"/>
        </a:accent5>
        <a:accent6>
          <a:srgbClr val="5B89E7"/>
        </a:accent6>
        <a:hlink>
          <a:srgbClr val="33CB33"/>
        </a:hlink>
        <a:folHlink>
          <a:srgbClr val="FF87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U_Template 2000 7">
        <a:dk1>
          <a:srgbClr val="000000"/>
        </a:dk1>
        <a:lt1>
          <a:srgbClr val="FFFFFF"/>
        </a:lt1>
        <a:dk2>
          <a:srgbClr val="000000"/>
        </a:dk2>
        <a:lt2>
          <a:srgbClr val="FEFB00"/>
        </a:lt2>
        <a:accent1>
          <a:srgbClr val="0000FE"/>
        </a:accent1>
        <a:accent2>
          <a:srgbClr val="6598FF"/>
        </a:accent2>
        <a:accent3>
          <a:srgbClr val="AAAAAA"/>
        </a:accent3>
        <a:accent4>
          <a:srgbClr val="DADADA"/>
        </a:accent4>
        <a:accent5>
          <a:srgbClr val="AAAAFE"/>
        </a:accent5>
        <a:accent6>
          <a:srgbClr val="5B89E7"/>
        </a:accent6>
        <a:hlink>
          <a:srgbClr val="33CB33"/>
        </a:hlink>
        <a:folHlink>
          <a:srgbClr val="FEFB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  <a:alpha val="20000"/>
          </a:schemeClr>
        </a:solidFill>
        <a:ln w="6350">
          <a:noFill/>
        </a:ln>
      </a:spPr>
      <a:bodyPr lIns="47999" tIns="47999" rIns="47999" bIns="47999" anchor="t"/>
      <a:lstStyle>
        <a:defPPr eaLnBrk="0" hangingPunct="0">
          <a:lnSpc>
            <a:spcPct val="120000"/>
          </a:lnSpc>
          <a:spcBef>
            <a:spcPct val="20000"/>
          </a:spcBef>
          <a:buClr>
            <a:srgbClr val="C00000"/>
          </a:buClr>
          <a:buSzPct val="100000"/>
          <a:defRPr b="1" dirty="0">
            <a:solidFill>
              <a:srgbClr val="C00000"/>
            </a:solidFill>
            <a:latin typeface="+mn-ea"/>
            <a:sym typeface="Arial" panose="020B0604020202020204" pitchFamily="34" charset="0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UnicomWide">
  <a:themeElements>
    <a:clrScheme name="红黄蓝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FFC000"/>
      </a:accent2>
      <a:accent3>
        <a:srgbClr val="00B0F0"/>
      </a:accent3>
      <a:accent4>
        <a:srgbClr val="C5E799"/>
      </a:accent4>
      <a:accent5>
        <a:srgbClr val="7F5F52"/>
      </a:accent5>
      <a:accent6>
        <a:srgbClr val="92D050"/>
      </a:accent6>
      <a:hlink>
        <a:srgbClr val="00B0F0"/>
      </a:hlink>
      <a:folHlink>
        <a:srgbClr val="C00000"/>
      </a:folHlink>
    </a:clrScheme>
    <a:fontScheme name="雅黑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  <a:alpha val="20000"/>
          </a:schemeClr>
        </a:solidFill>
        <a:ln w="6350">
          <a:noFill/>
        </a:ln>
      </a:spPr>
      <a:bodyPr lIns="47999" tIns="47999" rIns="47999" bIns="47999" anchor="t"/>
      <a:lstStyle>
        <a:defPPr eaLnBrk="0" hangingPunct="0">
          <a:lnSpc>
            <a:spcPct val="120000"/>
          </a:lnSpc>
          <a:spcBef>
            <a:spcPct val="20000"/>
          </a:spcBef>
          <a:buClr>
            <a:srgbClr val="C00000"/>
          </a:buClr>
          <a:buSzPct val="100000"/>
          <a:defRPr b="1" dirty="0">
            <a:solidFill>
              <a:srgbClr val="C00000"/>
            </a:solidFill>
            <a:latin typeface="+mn-ea"/>
            <a:sym typeface="Arial" panose="020B0604020202020204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纸张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UnicomWide</Template>
  <TotalTime>0</TotalTime>
  <Words>4176</Words>
  <Application>WPS 文字</Application>
  <PresentationFormat>宽屏</PresentationFormat>
  <Paragraphs>536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42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15</vt:i4>
      </vt:variant>
    </vt:vector>
  </HeadingPairs>
  <TitlesOfParts>
    <vt:vector size="68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Segoe UI</vt:lpstr>
      <vt:lpstr>Helvetica</vt:lpstr>
      <vt:lpstr>HYDaHeiJ</vt:lpstr>
      <vt:lpstr>宋体-简</vt:lpstr>
      <vt:lpstr>Calibri</vt:lpstr>
      <vt:lpstr>Helvetica Neue</vt:lpstr>
      <vt:lpstr>汉仪书宋二KW</vt:lpstr>
      <vt:lpstr>Tahoma</vt:lpstr>
      <vt:lpstr>华文细黑</vt:lpstr>
      <vt:lpstr>黑体-简</vt:lpstr>
      <vt:lpstr>Franklin Gothic Book</vt:lpstr>
      <vt:lpstr>苹方-简</vt:lpstr>
      <vt:lpstr>黑体</vt:lpstr>
      <vt:lpstr>汉仪中黑KW</vt:lpstr>
      <vt:lpstr>楷体_GB2312</vt:lpstr>
      <vt:lpstr>汉仪楷体简</vt:lpstr>
      <vt:lpstr>方正兰亭中黑_GBK</vt:lpstr>
      <vt:lpstr>Century Gothic</vt:lpstr>
      <vt:lpstr>华文中宋</vt:lpstr>
      <vt:lpstr>微软雅黑</vt:lpstr>
      <vt:lpstr>Calibri Light</vt:lpstr>
      <vt:lpstr>等线 Light</vt:lpstr>
      <vt:lpstr>汉仪中等线KW</vt:lpstr>
      <vt:lpstr>等线</vt:lpstr>
      <vt:lpstr>宋体</vt:lpstr>
      <vt:lpstr>Arial Unicode MS</vt:lpstr>
      <vt:lpstr/>
      <vt:lpstr>微软雅黑</vt:lpstr>
      <vt:lpstr>Al Bayan Plain</vt:lpstr>
      <vt:lpstr>黑体</vt:lpstr>
      <vt:lpstr>汉仪糯米团</vt:lpstr>
      <vt:lpstr>趣黑</vt:lpstr>
      <vt:lpstr>Heiti TC Light</vt:lpstr>
      <vt:lpstr>Heiti SC Light</vt:lpstr>
      <vt:lpstr>蘋果儷中黑</vt:lpstr>
      <vt:lpstr>1_UnicomWide</vt:lpstr>
      <vt:lpstr>Office Theme</vt:lpstr>
      <vt:lpstr>Office 主题​​</vt:lpstr>
      <vt:lpstr>2_UnicomWide</vt:lpstr>
      <vt:lpstr>NordriDesign</vt:lpstr>
      <vt:lpstr>1_U_Template 2000</vt:lpstr>
      <vt:lpstr>3_UnicomWide</vt:lpstr>
      <vt:lpstr>UnicomWide</vt:lpstr>
      <vt:lpstr>Office 主题​​</vt:lpstr>
      <vt:lpstr>5_UnicomWide</vt:lpstr>
      <vt:lpstr>6_UnicomWide</vt:lpstr>
      <vt:lpstr>数字大脑立项汇报</vt:lpstr>
      <vt:lpstr>PowerPoint 演示文稿</vt:lpstr>
      <vt:lpstr>什么是数字大脑</vt:lpstr>
      <vt:lpstr>为什么要建数字大脑</vt:lpstr>
      <vt:lpstr>数字大脑建什么</vt:lpstr>
      <vt:lpstr>我公司现有能力</vt:lpstr>
      <vt:lpstr>数字大脑迭代建设内容</vt:lpstr>
      <vt:lpstr>AI中台建设内容</vt:lpstr>
      <vt:lpstr>AI中台建设明细</vt:lpstr>
      <vt:lpstr>AI中台建设明细</vt:lpstr>
      <vt:lpstr>区块链平台</vt:lpstr>
      <vt:lpstr>区块链平台建设明细</vt:lpstr>
      <vt:lpstr>安全态势感知平台</vt:lpstr>
      <vt:lpstr>安全态势感知平台建设明细</vt:lpstr>
      <vt:lpstr>PowerPoint 演示文稿</vt:lpstr>
    </vt:vector>
  </TitlesOfParts>
  <Company>CU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2016绩效管理方案</dc:title>
  <dc:creator>刘嫚华</dc:creator>
  <cp:lastModifiedBy>Narcotics</cp:lastModifiedBy>
  <cp:revision>11564</cp:revision>
  <cp:lastPrinted>2022-07-01T07:07:55Z</cp:lastPrinted>
  <dcterms:created xsi:type="dcterms:W3CDTF">2022-07-01T07:07:55Z</dcterms:created>
  <dcterms:modified xsi:type="dcterms:W3CDTF">2022-07-01T07:07:55Z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2052-4.1.1.6630</vt:lpwstr>
  </property>
  <property fmtid="{D5CDD505-2E9C-101B-9397-08002B2CF9AE}" pid="3" name="ICV">
    <vt:lpwstr>2FF17C03ED8B4B4FB5EF8DC663494E89</vt:lpwstr>
  </property>
</Properties>
</file>