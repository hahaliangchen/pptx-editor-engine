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g1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 i="0" spc="0">
                <a:solidFill>
                  <a:srgbClr val="000000"/>
                </a:solidFill>
                <a:latin typeface="Noto Sans CJK SC"/>
                <a:ea typeface="Noto Sans CJK SC"/>
                <a:cs typeface="Arial"/>
              </a:rPr>
              <a:t xml:space="preserve">联通产互加班机制</a:t>
            </a:r>
            <a:endParaRPr sz="180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Microsoft YaHei"/>
                <a:ea typeface="Microsoft YaHei"/>
                <a:cs typeface="Arial"/>
              </a:rPr>
              <a:t xml:space="preserve">01</a:t>
            </a:r>
            <a:endParaRPr sz="1200"/>
          </a:p>
        </p:txBody>
      </p:sp>
      <p:sp>
        <p:nvSpPr>
          <p:cNvPr id="10" name="new:99c6eab03cf7722276ff27b524fc2d31:9"/>
          <p:cNvSpPr txBox="1"/>
          <p:nvPr/>
        </p:nvSpPr>
        <p:spPr>
          <a:xfrm>
            <a:off x="666750" y="1571625"/>
            <a:ext cx="9525000" cy="10477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为什么总加班？</a:t>
            </a:r>
            <a:br>
              <a:rPr sz="3150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315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先看交付机制如何“推迟问题”</a:t>
            </a:r>
            <a:endParaRPr sz="3150"/>
          </a:p>
        </p:txBody>
      </p:sp>
      <p:sp>
        <p:nvSpPr>
          <p:cNvPr id="11" name="new:99c6eab03cf7722276ff27b524fc2d31:10"/>
          <p:cNvSpPr/>
          <p:nvPr/>
        </p:nvSpPr>
        <p:spPr>
          <a:xfrm>
            <a:off x="666750" y="2905125"/>
            <a:ext cx="6191250" cy="476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2" name="new:99c6eab03cf7722276ff27b524fc2d31:11"/>
          <p:cNvSpPr txBox="1"/>
          <p:nvPr/>
        </p:nvSpPr>
        <p:spPr>
          <a:xfrm>
            <a:off x="895350" y="3429000"/>
            <a:ext cx="9525000" cy="12382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0">
                <a:solidFill>
                  <a:srgbClr val="444444"/>
                </a:solidFill>
                <a:latin typeface="Noto Sans CJK SC"/>
                <a:ea typeface="Noto Sans CJK SC"/>
              </a:rPr>
              <a:t xml:space="preserve">需求变化、决策等待、跨团队依赖与验收返工，可能在计划末端集中暴露。加班于是成为交付</a:t>
            </a:r>
            <a:br>
              <a:rPr sz="1800" b="0" i="0" spc="0">
                <a:solidFill>
                  <a:srgbClr val="444444"/>
                </a:solidFill>
                <a:latin typeface="Noto Sans CJK SC"/>
                <a:ea typeface="Noto Sans CJK SC"/>
              </a:rPr>
            </a:br>
            <a:r>
              <a:rPr sz="1800" b="0" i="0" spc="0">
                <a:solidFill>
                  <a:srgbClr val="444444"/>
                </a:solidFill>
                <a:latin typeface="Noto Sans CJK SC"/>
                <a:ea typeface="Noto Sans CJK SC"/>
              </a:rPr>
              <a:t xml:space="preserve">链的缓冲区，而非可持续的解决方案。</a:t>
            </a:r>
            <a:endParaRPr sz="1800"/>
          </a:p>
        </p:txBody>
      </p:sp>
      <p:sp>
        <p:nvSpPr>
          <p:cNvPr id="13" name="new:99c6eab03cf7722276ff27b524fc2d31:12"/>
          <p:cNvSpPr txBox="1"/>
          <p:nvPr/>
        </p:nvSpPr>
        <p:spPr>
          <a:xfrm>
            <a:off x="666750" y="49530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【手动保留】本页分析需结合项目事实验证。</a:t>
            </a:r>
            <a:endParaRPr sz="15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,"10":{"purpose":"content","name":"new:99c6eab03cf7722276ff27b524fc2d31:9"},"11":{"purpose":"content","name":"new:99c6eab03cf7722276ff27b524fc2d31:10"},"12":{"purpose":"content","name":"new:99c6eab03cf7722276ff27b524fc2d31:11"},"13":{"purpose":"content","name":"new:99c6eab03cf7722276ff27b524fc2d31:12"}}}</design:template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 i="0" spc="0">
                <a:solidFill>
                  <a:srgbClr val="000000"/>
                </a:solidFill>
                <a:latin typeface="Noto Sans CJK SC"/>
                <a:ea typeface="Noto Sans CJK SC"/>
                <a:cs typeface="Arial"/>
              </a:rPr>
              <a:t xml:space="preserve">加班机制：四个放大器</a:t>
            </a:r>
            <a:endParaRPr sz="180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Noto Sans CJK SC"/>
                <a:ea typeface="Noto Sans CJK SC"/>
                <a:cs typeface="Arial"/>
              </a:rPr>
              <a:t xml:space="preserve">02</a:t>
            </a:r>
            <a:endParaRPr sz="1200"/>
          </a:p>
        </p:txBody>
      </p:sp>
      <p:sp>
        <p:nvSpPr>
          <p:cNvPr id="10" name="new:a3023086ee3a9ab5ba42c3f3a09de6d5:9"/>
          <p:cNvSpPr txBox="1"/>
          <p:nvPr/>
        </p:nvSpPr>
        <p:spPr>
          <a:xfrm>
            <a:off x="666750" y="1428750"/>
            <a:ext cx="4953000" cy="13811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01　需求未冻结</a:t>
            </a:r>
            <a:b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变更进入在途任务，范围与日期却未同步重估</a:t>
            </a:r>
            <a:endParaRPr sz="2100"/>
          </a:p>
        </p:txBody>
      </p:sp>
      <p:sp>
        <p:nvSpPr>
          <p:cNvPr id="11" name="new:a3023086ee3a9ab5ba42c3f3a09de6d5:10"/>
          <p:cNvSpPr txBox="1"/>
          <p:nvPr/>
        </p:nvSpPr>
        <p:spPr>
          <a:xfrm>
            <a:off x="6191250" y="1428750"/>
            <a:ext cx="4953000" cy="13811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02　决策等待</a:t>
            </a:r>
            <a:b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关键口径、资源或优先级迟定，压缩后续窗口</a:t>
            </a:r>
            <a:endParaRPr sz="2100"/>
          </a:p>
        </p:txBody>
      </p:sp>
      <p:sp>
        <p:nvSpPr>
          <p:cNvPr id="12" name="new:a3023086ee3a9ab5ba42c3f3a09de6d5:11"/>
          <p:cNvSpPr/>
          <p:nvPr/>
        </p:nvSpPr>
        <p:spPr>
          <a:xfrm>
            <a:off x="666750" y="3095625"/>
            <a:ext cx="4762500" cy="285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new:a3023086ee3a9ab5ba42c3f3a09de6d5:12"/>
          <p:cNvSpPr/>
          <p:nvPr/>
        </p:nvSpPr>
        <p:spPr>
          <a:xfrm>
            <a:off x="6191250" y="3095625"/>
            <a:ext cx="4762500" cy="285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new:a3023086ee3a9ab5ba42c3f3a09de6d5:13"/>
          <p:cNvSpPr txBox="1"/>
          <p:nvPr/>
        </p:nvSpPr>
        <p:spPr>
          <a:xfrm>
            <a:off x="666750" y="3476625"/>
            <a:ext cx="4953000" cy="13811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03　依赖后置</a:t>
            </a:r>
            <a:b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接口、数据、环境或外部配合到联调才暴露</a:t>
            </a:r>
            <a:endParaRPr sz="2100"/>
          </a:p>
        </p:txBody>
      </p:sp>
      <p:sp>
        <p:nvSpPr>
          <p:cNvPr id="15" name="new:a3023086ee3a9ab5ba42c3f3a09de6d5:14"/>
          <p:cNvSpPr txBox="1"/>
          <p:nvPr/>
        </p:nvSpPr>
        <p:spPr>
          <a:xfrm>
            <a:off x="6191250" y="3476625"/>
            <a:ext cx="4953000" cy="13811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04　验收返工</a:t>
            </a:r>
            <a:br>
              <a:rPr sz="2100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验收标准未前置对齐，交付末期反复补证与修改</a:t>
            </a:r>
            <a:endParaRPr sz="2100"/>
          </a:p>
        </p:txBody>
      </p:sp>
      <p:sp>
        <p:nvSpPr>
          <p:cNvPr id="16" name="new:a3023086ee3a9ab5ba42c3f3a09de6d5:15"/>
          <p:cNvSpPr/>
          <p:nvPr/>
        </p:nvSpPr>
        <p:spPr>
          <a:xfrm>
            <a:off x="666750" y="5191125"/>
            <a:ext cx="10287000" cy="476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7" name="new:a3023086ee3a9ab5ba42c3f3a09de6d5:16"/>
          <p:cNvSpPr txBox="1"/>
          <p:nvPr/>
        </p:nvSpPr>
        <p:spPr>
          <a:xfrm>
            <a:off x="666750" y="5429250"/>
            <a:ext cx="10001250" cy="52387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共同机制：风险发现偏晚 + 变更未重新协商范围、资源与承诺。</a:t>
            </a:r>
            <a:endParaRPr sz="15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,"10":{"purpose":"content","name":"new:a3023086ee3a9ab5ba42c3f3a09de6d5:9"},"11":{"purpose":"content","name":"new:a3023086ee3a9ab5ba42c3f3a09de6d5:10"},"12":{"purpose":"content","name":"new:a3023086ee3a9ab5ba42c3f3a09de6d5:11"},"13":{"purpose":"content","name":"new:a3023086ee3a9ab5ba42c3f3a09de6d5:12"},"14":{"purpose":"content","name":"new:a3023086ee3a9ab5ba42c3f3a09de6d5:13"},"15":{"purpose":"content","name":"new:a3023086ee3a9ab5ba42c3f3a09de6d5:14"},"16":{"purpose":"content","name":"new:a3023086ee3a9ab5ba42c3f3a09de6d5:15"},"17":{"purpose":"content","name":"new:a3023086ee3a9ab5ba42c3f3a09de6d5:16"}}}</design:template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 i="0" spc="0">
                <a:solidFill>
                  <a:srgbClr val="000000"/>
                </a:solidFill>
                <a:latin typeface="Noto Sans CJK SC"/>
                <a:ea typeface="Noto Sans CJK SC"/>
                <a:cs typeface="Arial"/>
              </a:rPr>
              <a:t xml:space="preserve">把协作链前移，减少末端救火</a:t>
            </a:r>
            <a:endParaRPr sz="180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Noto Sans CJK SC"/>
                <a:ea typeface="Noto Sans CJK SC"/>
                <a:cs typeface="Arial"/>
              </a:rPr>
              <a:t xml:space="preserve">03</a:t>
            </a:r>
            <a:endParaRPr sz="1200"/>
          </a:p>
        </p:txBody>
      </p:sp>
      <p:sp>
        <p:nvSpPr>
          <p:cNvPr id="10" name="new:b5212e956c2c6967224f79459ac592ad:9"/>
          <p:cNvSpPr txBox="1"/>
          <p:nvPr/>
        </p:nvSpPr>
        <p:spPr>
          <a:xfrm>
            <a:off x="666750" y="1476375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启动：一次说清楚</a:t>
            </a:r>
            <a:b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明确范围、验收口径、责任接口与决策人</a:t>
            </a:r>
            <a:endParaRPr sz="2025"/>
          </a:p>
        </p:txBody>
      </p:sp>
      <p:sp>
        <p:nvSpPr>
          <p:cNvPr id="11" name="new:b5212e956c2c6967224f79459ac592ad:10"/>
          <p:cNvSpPr txBox="1"/>
          <p:nvPr/>
        </p:nvSpPr>
        <p:spPr>
          <a:xfrm>
            <a:off x="6191250" y="1476375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计划：依赖显性化</a:t>
            </a:r>
            <a:b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列出前置条件、交付物、日期及阻塞升级路径</a:t>
            </a:r>
            <a:endParaRPr sz="2025"/>
          </a:p>
        </p:txBody>
      </p:sp>
      <p:sp>
        <p:nvSpPr>
          <p:cNvPr id="12" name="new:b5212e956c2c6967224f79459ac592ad:11"/>
          <p:cNvSpPr/>
          <p:nvPr/>
        </p:nvSpPr>
        <p:spPr>
          <a:xfrm>
            <a:off x="666750" y="3143250"/>
            <a:ext cx="4762500" cy="285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" name="new:b5212e956c2c6967224f79459ac592ad:12"/>
          <p:cNvSpPr/>
          <p:nvPr/>
        </p:nvSpPr>
        <p:spPr>
          <a:xfrm>
            <a:off x="6191250" y="3143250"/>
            <a:ext cx="4762500" cy="285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new:b5212e956c2c6967224f79459ac592ad:13"/>
          <p:cNvSpPr txBox="1"/>
          <p:nvPr/>
        </p:nvSpPr>
        <p:spPr>
          <a:xfrm>
            <a:off x="666750" y="3524250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变更：同步重估</a:t>
            </a:r>
            <a:b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新增需求须同步讨论范围、资源、优先级与日期</a:t>
            </a:r>
            <a:endParaRPr sz="2025"/>
          </a:p>
        </p:txBody>
      </p:sp>
      <p:sp>
        <p:nvSpPr>
          <p:cNvPr id="15" name="new:b5212e956c2c6967224f79459ac592ad:14"/>
          <p:cNvSpPr txBox="1"/>
          <p:nvPr/>
        </p:nvSpPr>
        <p:spPr>
          <a:xfrm>
            <a:off x="6191250" y="3524250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验收：过程共检</a:t>
            </a:r>
            <a:b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按约定清单分段演示、留痕，尽早处理差异</a:t>
            </a:r>
            <a:endParaRPr sz="2025"/>
          </a:p>
        </p:txBody>
      </p:sp>
      <p:sp>
        <p:nvSpPr>
          <p:cNvPr id="16" name="new:b5212e956c2c6967224f79459ac592ad:15"/>
          <p:cNvSpPr/>
          <p:nvPr/>
        </p:nvSpPr>
        <p:spPr>
          <a:xfrm>
            <a:off x="666750" y="5238750"/>
            <a:ext cx="10287000" cy="476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7" name="new:b5212e956c2c6967224f79459ac592ad:16"/>
          <p:cNvSpPr txBox="1"/>
          <p:nvPr/>
        </p:nvSpPr>
        <p:spPr>
          <a:xfrm>
            <a:off x="666750" y="5476875"/>
            <a:ext cx="10001250" cy="4762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关键不是“多开会”，而是让信息、责任、决策与变更有明确闭环。</a:t>
            </a:r>
            <a:endParaRPr sz="15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,"10":{"purpose":"content","name":"new:b5212e956c2c6967224f79459ac592ad:9"},"11":{"purpose":"content","name":"new:b5212e956c2c6967224f79459ac592ad:10"},"12":{"purpose":"content","name":"new:b5212e956c2c6967224f79459ac592ad:11"},"13":{"purpose":"content","name":"new:b5212e956c2c6967224f79459ac592ad:12"},"14":{"purpose":"content","name":"new:b5212e956c2c6967224f79459ac592ad:13"},"15":{"purpose":"content","name":"new:b5212e956c2c6967224f79459ac592ad:14"},"16":{"purpose":"content","name":"new:b5212e956c2c6967224f79459ac592ad:15"},"17":{"purpose":"content","name":"new:b5212e956c2c6967224f79459ac592ad:16"}}}</design:template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 i="0" spc="0">
                <a:solidFill>
                  <a:srgbClr val="000000"/>
                </a:solidFill>
                <a:latin typeface="Noto Sans CJK SC"/>
                <a:ea typeface="Noto Sans CJK SC"/>
                <a:cs typeface="Arial"/>
              </a:rPr>
              <a:t xml:space="preserve">试点：用闭环验证改进</a:t>
            </a:r>
            <a:endParaRPr sz="180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Noto Sans CJK SC"/>
                <a:ea typeface="Noto Sans CJK SC"/>
                <a:cs typeface="Arial"/>
              </a:rPr>
              <a:t xml:space="preserve">04</a:t>
            </a:r>
            <a:endParaRPr sz="1200"/>
          </a:p>
        </p:txBody>
      </p:sp>
      <p:sp>
        <p:nvSpPr>
          <p:cNvPr id="10" name="new:fbca1f825ea4f3812e9ca1ed4bf7e47b:9"/>
          <p:cNvSpPr txBox="1"/>
          <p:nvPr/>
        </p:nvSpPr>
        <p:spPr>
          <a:xfrm>
            <a:off x="666750" y="1476375"/>
            <a:ext cx="4762500" cy="8572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选一个交付试点</a:t>
            </a:r>
            <a:endParaRPr sz="2250"/>
          </a:p>
        </p:txBody>
      </p:sp>
      <p:sp>
        <p:nvSpPr>
          <p:cNvPr id="11" name="new:fbca1f825ea4f3812e9ca1ed4bf7e47b:10"/>
          <p:cNvSpPr txBox="1"/>
          <p:nvPr/>
        </p:nvSpPr>
        <p:spPr>
          <a:xfrm>
            <a:off x="666750" y="2238375"/>
            <a:ext cx="4762500" cy="10477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选有代表性的在途事项；先约定范围、责任接口、决</a:t>
            </a:r>
            <a:b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</a:br>
            <a:r>
              <a:rPr sz="1575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策时限与验收清单。</a:t>
            </a:r>
            <a:endParaRPr sz="1575"/>
          </a:p>
        </p:txBody>
      </p:sp>
      <p:sp>
        <p:nvSpPr>
          <p:cNvPr id="12" name="new:fbca1f825ea4f3812e9ca1ed4bf7e47b:11"/>
          <p:cNvSpPr/>
          <p:nvPr/>
        </p:nvSpPr>
        <p:spPr>
          <a:xfrm>
            <a:off x="5857875" y="1476375"/>
            <a:ext cx="38100" cy="333375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3" name="new:fbca1f825ea4f3812e9ca1ed4bf7e47b:12"/>
          <p:cNvSpPr txBox="1"/>
          <p:nvPr/>
        </p:nvSpPr>
        <p:spPr>
          <a:xfrm>
            <a:off x="6429375" y="1476375"/>
            <a:ext cx="4572000" cy="8096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每周看过程信号</a:t>
            </a:r>
            <a:endParaRPr sz="2025"/>
          </a:p>
        </p:txBody>
      </p:sp>
      <p:sp>
        <p:nvSpPr>
          <p:cNvPr id="14" name="new:fbca1f825ea4f3812e9ca1ed4bf7e47b:13"/>
          <p:cNvSpPr txBox="1"/>
          <p:nvPr/>
        </p:nvSpPr>
        <p:spPr>
          <a:xfrm>
            <a:off x="6429375" y="2238375"/>
            <a:ext cx="4572000" cy="14287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需求变更是否同步重估</a:t>
            </a:r>
            <a:b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</a:b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依赖阻塞是否有负责人和期限</a:t>
            </a:r>
            <a:b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</a:b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验收差异是否在阶段内收敛</a:t>
            </a:r>
            <a:endParaRPr sz="1500"/>
          </a:p>
        </p:txBody>
      </p:sp>
      <p:sp>
        <p:nvSpPr>
          <p:cNvPr id="15" name="new:fbca1f825ea4f3812e9ca1ed4bf7e47b:14"/>
          <p:cNvSpPr txBox="1"/>
          <p:nvPr/>
        </p:nvSpPr>
        <p:spPr>
          <a:xfrm>
            <a:off x="6429375" y="3905250"/>
            <a:ext cx="4572000" cy="8096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复盘后再推广</a:t>
            </a:r>
            <a:endParaRPr sz="2025"/>
          </a:p>
        </p:txBody>
      </p:sp>
      <p:sp>
        <p:nvSpPr>
          <p:cNvPr id="16" name="new:fbca1f825ea4f3812e9ca1ed4bf7e47b:15"/>
          <p:cNvSpPr txBox="1"/>
          <p:nvPr/>
        </p:nvSpPr>
        <p:spPr>
          <a:xfrm>
            <a:off x="6429375" y="4429125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比较承诺与实际、返工原因及加班触发点；依据证据调</a:t>
            </a:r>
            <a:b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</a:b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整流程，不预设改善幅度。</a:t>
            </a:r>
            <a:endParaRPr sz="1500"/>
          </a:p>
        </p:txBody>
      </p:sp>
      <p:sp>
        <p:nvSpPr>
          <p:cNvPr id="17" name="new:fbca1f825ea4f3812e9ca1ed4bf7e47b:16"/>
          <p:cNvSpPr/>
          <p:nvPr/>
        </p:nvSpPr>
        <p:spPr>
          <a:xfrm>
            <a:off x="666750" y="5429250"/>
            <a:ext cx="10287000" cy="476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8" name="new:fbca1f825ea4f3812e9ca1ed4bf7e47b:17"/>
          <p:cNvSpPr txBox="1"/>
          <p:nvPr/>
        </p:nvSpPr>
        <p:spPr>
          <a:xfrm>
            <a:off x="666750" y="5619750"/>
            <a:ext cx="10287000" cy="47625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目标：让风险早暴露、决策有时限、变更有代价、验收有依据。</a:t>
            </a:r>
            <a:endParaRPr sz="15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,"10":{"purpose":"content","name":"new:fbca1f825ea4f3812e9ca1ed4bf7e47b:9"},"11":{"purpose":"content","name":"new:fbca1f825ea4f3812e9ca1ed4bf7e47b:10"},"12":{"purpose":"content","name":"new:fbca1f825ea4f3812e9ca1ed4bf7e47b:11"},"13":{"purpose":"content","name":"new:fbca1f825ea4f3812e9ca1ed4bf7e47b:12"},"14":{"purpose":"content","name":"new:fbca1f825ea4f3812e9ca1ed4bf7e47b:13"},"15":{"purpose":"content","name":"new:fbca1f825ea4f3812e9ca1ed4bf7e47b:14"},"16":{"purpose":"content","name":"new:fbca1f825ea4f3812e9ca1ed4bf7e47b:15"},"17":{"purpose":"content","name":"new:fbca1f825ea4f3812e9ca1ed4bf7e47b:16"},"18":{"purpose":"content","name":"new:fbca1f825ea4f3812e9ca1ed4bf7e47b:17"}}}</design:template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 i="0" spc="0">
                <a:solidFill>
                  <a:srgbClr val="000000"/>
                </a:solidFill>
                <a:latin typeface="Noto Sans CJK SC"/>
                <a:ea typeface="Noto Sans CJK SC"/>
                <a:cs typeface="Arial"/>
              </a:rPr>
              <a:t xml:space="preserve">结论：把“熬夜”变成“早闭环”</a:t>
            </a:r>
            <a:endParaRPr sz="1800"/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 vertOverflow="overflow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 b="0" i="0" spc="0">
                <a:solidFill>
                  <a:srgbClr val="777777"/>
                </a:solidFill>
                <a:latin typeface="Noto Sans CJK SC"/>
                <a:ea typeface="Noto Sans CJK SC"/>
                <a:cs typeface="Arial"/>
              </a:rPr>
              <a:t xml:space="preserve">05</a:t>
            </a:r>
            <a:endParaRPr sz="1200"/>
          </a:p>
        </p:txBody>
      </p:sp>
      <p:sp>
        <p:nvSpPr>
          <p:cNvPr id="10" name="new:1e853f608f1ca946a515e57c3cf0147b:9"/>
          <p:cNvSpPr txBox="1"/>
          <p:nvPr/>
        </p:nvSpPr>
        <p:spPr>
          <a:xfrm>
            <a:off x="666750" y="1476375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spc="0">
                <a:solidFill>
                  <a:srgbClr val="222222"/>
                </a:solidFill>
                <a:latin typeface="Noto Sans CJK SC"/>
                <a:ea typeface="Noto Sans CJK SC"/>
              </a:rPr>
              <a:t xml:space="preserve">把不确定性留在交付前解决</a:t>
            </a:r>
            <a:endParaRPr sz="2700"/>
          </a:p>
        </p:txBody>
      </p:sp>
      <p:sp>
        <p:nvSpPr>
          <p:cNvPr id="11" name="new:1e853f608f1ca946a515e57c3cf0147b:10"/>
          <p:cNvSpPr/>
          <p:nvPr/>
        </p:nvSpPr>
        <p:spPr>
          <a:xfrm>
            <a:off x="666750" y="2476500"/>
            <a:ext cx="47625" cy="238125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2" name="new:1e853f608f1ca946a515e57c3cf0147b:11"/>
          <p:cNvSpPr txBox="1"/>
          <p:nvPr/>
        </p:nvSpPr>
        <p:spPr>
          <a:xfrm>
            <a:off x="952500" y="2571750"/>
            <a:ext cx="4572000" cy="21431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• 需求变更：透明记录，及时重估承诺</a:t>
            </a:r>
            <a:br>
              <a:rPr sz="1650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1650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• 依赖阻塞：明确接口人、期限与升级路径</a:t>
            </a:r>
            <a:endParaRPr sz="1650"/>
          </a:p>
        </p:txBody>
      </p:sp>
      <p:sp>
        <p:nvSpPr>
          <p:cNvPr id="15" name="new:e77d5e8b2b07d09b0820980e7c32b3c2:12"/>
          <p:cNvSpPr/>
          <p:nvPr/>
        </p:nvSpPr>
        <p:spPr>
          <a:xfrm>
            <a:off x="5857875" y="2571750"/>
            <a:ext cx="19050" cy="20478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6" name="new:e77d5e8b2b07d09b0820980e7c32b3c2:13"/>
          <p:cNvSpPr txBox="1"/>
          <p:nvPr/>
        </p:nvSpPr>
        <p:spPr>
          <a:xfrm>
            <a:off x="6286500" y="2571750"/>
            <a:ext cx="4572000" cy="214312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• 验收返工：共同定义标准，过程分段核验</a:t>
            </a:r>
            <a:br>
              <a:rPr sz="1650" b="0" i="0" spc="0">
                <a:solidFill>
                  <a:srgbClr val="333333"/>
                </a:solidFill>
                <a:latin typeface="Noto Sans CJK SC"/>
                <a:ea typeface="Noto Sans CJK SC"/>
              </a:rPr>
            </a:br>
            <a:r>
              <a:rPr sz="1650" b="0" i="0" spc="0">
                <a:solidFill>
                  <a:srgbClr val="333333"/>
                </a:solidFill>
                <a:latin typeface="Noto Sans CJK SC"/>
                <a:ea typeface="Noto Sans CJK SC"/>
              </a:rPr>
              <a:t xml:space="preserve">• 协作节奏：短会聚焦决策阻塞，结论留痕</a:t>
            </a:r>
            <a:endParaRPr sz="1650"/>
          </a:p>
        </p:txBody>
      </p:sp>
      <p:sp>
        <p:nvSpPr>
          <p:cNvPr id="13" name="new:1e853f608f1ca946a515e57c3cf0147b:12"/>
          <p:cNvSpPr/>
          <p:nvPr/>
        </p:nvSpPr>
        <p:spPr>
          <a:xfrm>
            <a:off x="666750" y="5238750"/>
            <a:ext cx="10287000" cy="381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4" name="new:1e853f608f1ca946a515e57c3cf0147b:13"/>
          <p:cNvSpPr txBox="1"/>
          <p:nvPr/>
        </p:nvSpPr>
        <p:spPr>
          <a:xfrm>
            <a:off x="666750" y="5476875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tIns="0" rIns="0" bIns="0" lIns="0" anchor="t" wrap="none" vertOverflow="overflow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555555"/>
                </a:solidFill>
                <a:latin typeface="Noto Sans CJK SC"/>
                <a:ea typeface="Noto Sans CJK SC"/>
              </a:rPr>
              <a:t xml:space="preserve">从小范围试点开始，用真实项目证据判断是否减少返工与临时加班。</a:t>
            </a:r>
            <a:endParaRPr sz="1500"/>
          </a:p>
        </p:txBody>
      </p:sp>
    </p:spTree>
  </p:cSld>
  <p:clrMapOvr>
    <a:masterClrMapping/>
  </p:clrMapOvr>
  <p:extLst>
    <p:ext uri="{70D18A51-144B-49B9-A917-03139173DE67}">
      <design:template xmlns:design="urn:pptx-editor:template:1">{"version":1,"page":{"role":"content","layoutName":"联通品牌空白页","note":"保留原有品牌和背景；可变内容按主题设计，固定 Logo 不得移动、变形或遮挡。"},"nodes":{"2":{"purpose":"fixed","note":"品牌装饰或原始素材，原样保留","name":"Rectangle 2"},"3":{"purpose":"fixed","note":"品牌装饰或原始素材，原样保留","name":"Rectangle 3"},"4":{"purpose":"fixed","note":"品牌装饰或原始素材，原样保留","name":"Image 4"},"5":{"purpose":"fixed","note":"品牌装饰或原始素材，原样保留","name":"Rectangle 5"},"6":{"purpose":"fixed","note":"品牌装饰或原始素材，原样保留","name":"Rectangle 6"},"7":{"purpose":"fixed","note":"品牌装饰或原始素材，原样保留","name":"Line 7"},"8":{"purpose":"content","note":"可改文字及布局","name":"TextBox 8"},"9":{"purpose":"content","note":"可改文字及布局","name":"TextBox 9"},"10":{"purpose":"content","name":"new:1e853f608f1ca946a515e57c3cf0147b:9"},"11":{"purpose":"content","name":"new:1e853f608f1ca946a515e57c3cf0147b:10"},"12":{"purpose":"content","name":"new:1e853f608f1ca946a515e57c3cf0147b:11"},"13":{"purpose":"content","name":"new:1e853f608f1ca946a515e57c3cf0147b:12"},"14":{"purpose":"content","name":"new:1e853f608f1ca946a515e57c3cf0147b:13"},"15":{"purpose":"content","name":"new:e77d5e8b2b07d09b0820980e7c32b3c2:12"},"16":{"purpose":"content","name":"new:e77d5e8b2b07d09b0820980e7c32b3c2:13"}}}</design:template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