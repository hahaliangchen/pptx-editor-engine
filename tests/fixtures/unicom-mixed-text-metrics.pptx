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  <p:sp>
        <p:nvSpPr>
          <p:cNvPr id="10" name="new:4ea40090fed0c61242e8f124e1a09cdd:9"/>
          <p:cNvSpPr txBox="1"/>
          <p:nvPr/>
        </p:nvSpPr>
        <p:spPr>
          <a:xfrm>
            <a:off x="742950" y="1600200"/>
            <a:ext cx="6286500" cy="18669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减少无效加班</a:t>
            </a:r>
            <a:br>
              <a:rPr sz="375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37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从重构交付机制开始</a:t>
            </a:r>
            <a:endParaRPr sz="3750"/>
          </a:p>
          <a:p>
            <a:pPr algn="l">
              <a:lnSpc>
                <a:spcPts val="2850"/>
              </a:lnSpc>
              <a:spcBef>
                <a:spcPts val="1500"/>
              </a:spcBef>
              <a:spcAft>
                <a:spcPts val="0"/>
              </a:spcAft>
            </a:pPr>
            <a:r>
              <a:rPr sz="18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聚焦排期、并行、等待、返工与决策闭环</a:t>
            </a:r>
            <a:endParaRPr sz="1800"/>
          </a:p>
        </p:txBody>
      </p:sp>
      <p:sp>
        <p:nvSpPr>
          <p:cNvPr id="11" name="new:4ea40090fed0c61242e8f124e1a09cdd:10"/>
          <p:cNvSpPr/>
          <p:nvPr/>
        </p:nvSpPr>
        <p:spPr>
          <a:xfrm>
            <a:off x="7810500" y="1809750"/>
            <a:ext cx="28575" cy="314325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2" name="new:4ea40090fed0c61242e8f124e1a09cdd:11"/>
          <p:cNvSpPr txBox="1"/>
          <p:nvPr/>
        </p:nvSpPr>
        <p:spPr>
          <a:xfrm>
            <a:off x="8286750" y="2095500"/>
            <a:ext cx="3048000" cy="24765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不是要求更快</a:t>
            </a:r>
            <a:b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而是减少等待与返工</a:t>
            </a:r>
            <a:b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让承诺可兑现</a:t>
            </a:r>
            <a:br>
              <a:rPr sz="217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175" b="1" i="0" spc="0">
                <a:solidFill>
                  <a:srgbClr val="E60012"/>
                </a:solidFill>
                <a:latin typeface="Noto Sans CJK SC"/>
                <a:ea typeface="Noto Sans CJK SC"/>
              </a:rPr>
              <a:t xml:space="preserve">交付靠系统，不靠熬夜</a:t>
            </a:r>
            <a:endParaRPr sz="2175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9"},"10":{"purpose":"content","name":"new:4ea40090fed0c61242e8f124e1a09cdd:9"},"11":{"purpose":"content","name":"new:4ea40090fed0c61242e8f124e1a09cdd:10"},"12":{"purpose":"content","name":"new:4ea40090fed0c61242e8f124e1a09cdd:11"}}}</design:template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Noto Sans CJK SC"/>
                <a:ea typeface="Noto Sans CJK SC"/>
                <a:cs typeface="Arial"/>
              </a:rPr>
              <a:t xml:space="preserve">02</a:t>
            </a:r>
            <a:endParaRPr sz="1200"/>
          </a:p>
        </p:txBody>
      </p:sp>
      <p:sp>
        <p:nvSpPr>
          <p:cNvPr id="10" name="new:85bc8c167e6ee4f439bcf08c3486d3ed:9"/>
          <p:cNvSpPr txBox="1"/>
          <p:nvPr/>
        </p:nvSpPr>
        <p:spPr>
          <a:xfrm>
            <a:off x="762000" y="1381125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工作目标｜把“晚下班”拆解为可治理的交付问题</a:t>
            </a:r>
            <a:endParaRPr sz="2550"/>
          </a:p>
        </p:txBody>
      </p:sp>
      <p:sp>
        <p:nvSpPr>
          <p:cNvPr id="11" name="new:85bc8c167e6ee4f439bcf08c3486d3ed:10"/>
          <p:cNvSpPr/>
          <p:nvPr/>
        </p:nvSpPr>
        <p:spPr>
          <a:xfrm>
            <a:off x="762000" y="2085975"/>
            <a:ext cx="4762500" cy="342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2" name="new:85bc8c167e6ee4f439bcf08c3486d3ed:11"/>
          <p:cNvSpPr txBox="1"/>
          <p:nvPr/>
        </p:nvSpPr>
        <p:spPr>
          <a:xfrm>
            <a:off x="1066800" y="2371725"/>
            <a:ext cx="4095750" cy="28575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观察到的管理症状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· 排期承诺与真实产能脱节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· 多项目并行，关键人被反复切换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· 等待、返工与信息延迟叠加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· 风险暴露太晚，决策窗口被压缩</a:t>
            </a:r>
            <a:endParaRPr sz="2025"/>
          </a:p>
        </p:txBody>
      </p:sp>
      <p:sp>
        <p:nvSpPr>
          <p:cNvPr id="13" name="new:85bc8c167e6ee4f439bcf08c3486d3ed:12"/>
          <p:cNvSpPr txBox="1"/>
          <p:nvPr/>
        </p:nvSpPr>
        <p:spPr>
          <a:xfrm>
            <a:off x="6191250" y="2266950"/>
            <a:ext cx="4762500" cy="26670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E60012"/>
                </a:solidFill>
                <a:latin typeface="Noto Sans CJK SC"/>
                <a:ea typeface="Noto Sans CJK SC"/>
              </a:rPr>
              <a:t xml:space="preserve">改进方向</a:t>
            </a:r>
            <a:br>
              <a:rPr sz="2025" b="1" i="0" spc="0">
                <a:solidFill>
                  <a:srgbClr val="E60012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建立可承诺的需求入口与排期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降低关键资源过载和无序切换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缩短协作等待，前移质量验证</a:t>
            </a:r>
            <a:b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2025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让责任、决策与验收形成闭环</a:t>
            </a:r>
            <a:endParaRPr sz="2025"/>
          </a:p>
        </p:txBody>
      </p:sp>
      <p:sp>
        <p:nvSpPr>
          <p:cNvPr id="14" name="new:85bc8c167e6ee4f439bcf08c3486d3ed:13"/>
          <p:cNvSpPr/>
          <p:nvPr/>
        </p:nvSpPr>
        <p:spPr>
          <a:xfrm>
            <a:off x="5857875" y="2333625"/>
            <a:ext cx="28575" cy="28575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5" name="new:85bc8c167e6ee4f439bcf08c3486d3ed:14"/>
          <p:cNvSpPr txBox="1"/>
          <p:nvPr/>
        </p:nvSpPr>
        <p:spPr>
          <a:xfrm>
            <a:off x="762000" y="5857875"/>
            <a:ext cx="10287000" cy="3619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spc="0">
                <a:solidFill>
                  <a:srgbClr val="666666"/>
                </a:solidFill>
                <a:latin typeface="Noto Sans CJK SC"/>
                <a:ea typeface="Noto Sans CJK SC"/>
              </a:rPr>
              <a:t xml:space="preserve">原则：不假设具体内部数据；先建立基线，再用试点验证机制是否改善。</a:t>
            </a:r>
            <a:endParaRPr sz="1575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85bc8c167e6ee4f439bcf08c3486d3ed:9"},"11":{"purpose":"content","name":"new:85bc8c167e6ee4f439bcf08c3486d3ed:10"},"12":{"purpose":"content","name":"new:85bc8c167e6ee4f439bcf08c3486d3ed:11"},"13":{"purpose":"content","name":"new:85bc8c167e6ee4f439bcf08c3486d3ed:12"},"14":{"purpose":"content","name":"new:85bc8c167e6ee4f439bcf08c3486d3ed:13"},"15":{"purpose":"content","name":"new:85bc8c167e6ee4f439bcf08c3486d3ed:14"}}}</design:template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